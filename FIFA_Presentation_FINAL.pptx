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0" r:id="rId1"/>
  </p:sldMasterIdLst>
  <p:notesMasterIdLst>
    <p:notesMasterId r:id="rId40"/>
  </p:notesMasterIdLst>
  <p:sldIdLst>
    <p:sldId id="267" r:id="rId2"/>
    <p:sldId id="266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94" r:id="rId11"/>
    <p:sldId id="295" r:id="rId12"/>
    <p:sldId id="275" r:id="rId13"/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5" r:id="rId22"/>
    <p:sldId id="276" r:id="rId23"/>
    <p:sldId id="277" r:id="rId24"/>
    <p:sldId id="278" r:id="rId25"/>
    <p:sldId id="279" r:id="rId26"/>
    <p:sldId id="280" r:id="rId27"/>
    <p:sldId id="281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2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Mean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Defender</c:v>
                </c:pt>
                <c:pt idx="1">
                  <c:v>Midfielder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0.346667</c:v>
                </c:pt>
                <c:pt idx="1">
                  <c:v>0.34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05-41E5-BB51-DBBE454239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AU"/>
                  <a:t>Position group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5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AU"/>
                  <a:t>Mean yellow cards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  <c:majorUnit val="0.1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6C9788-802B-42A9-ADFB-E1604AED4F68}" type="datetimeFigureOut">
              <a:rPr lang="en-AU" smtClean="0"/>
              <a:t>10/09/2026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A30F81-8E6C-4633-87A7-602D72DB64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835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Hello, I'm Hemraj, student ID [SHOW ID]. My part covers the attacking analysis. Our question: during the 2026 World Cup, do forwards take more shots than midfielders? I tested this using shots-per-90-minutes and a two-sample t-test.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one of our four tasks follows this same six-step pipeline: we state a question, clean the data, prepare and sample it, describe it with statistics, estimate the population with a confidence interval, and finally run a hypothesis test to check if the difference is real. This keeps all four tasks consistent.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research question: do forwards and midfielders differ in shots per 90 minutes? The null hypothesis says there's no difference; the alternative says there is. I set the significance level at 0.05 — if my p-value comes out below that, I reject the null.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data is the FBref shooting file — 1039 players. In cleaning: skiprows=1 skips the junk header row; drop removes unneeded columns; to_numeric makes sure the stats are real numbers; and the replace strips the country codes off team names. I chose the variable Sh/90 because it has zero missing values, unlike shot-accuracy columns which are blank for players who took no 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kept only players with at least one full match, then split into forwards and midfielders. There were 99 forwards and 254 midfielders available, so I took a random balanced sample of 80 from each. random_state=42 makes it reproducible — anyone re-running my code gets the exact same 80 players.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descriptive stats show forwards averaged 2.17 shots per 90 versus 1.26 for midfielders — almost double. The boxplot makes it visual: the coral forward box sits clearly higher than the navy midfielder box, and the two barely overlap. Each dot is one player.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95% confidence intervals don't overlap — forwards' lowest plausible value, 1.89, is still above midfielders' highest, 1.49. The Welch t-test gives t = 5.07 and a p-value below 0.001, far under 0.05, so I reject the null hypothesis. I used Welch's test because the two groups have slightly different variances.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Beyond significance, I measured the effect size with Cohen's d, which came out at 0.80 — a large effect. So the difference between forwards and midfielders isn't just statistically detectable, it's substantial in magnitude. On the standard scale, 0.2 is small, 0.5 medium, and 0.8 large — we're right at that large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also checked my assumptions honestly. The Shapiro-Wilk test shows forwards are normally distributed, while midfielders depart slightly — but with 80 per group, the Central Limit Theorem means Welch's test is still robust. My main limitation: shots per 90 measures shot volume, not quality or goals, so a midfielder taking fewer but better chances isn't captured. And this shows an association between position and shot volume, not causation.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conclusion: forwards took significantly more shots per 90 than midfielders, with p below 0.001. Every step agreed — descriptive stats, non-overlapping confidence intervals, and the t-test. The result also matches football intuition.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9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748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39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149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300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220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215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42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121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102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Calibri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4846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8135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4522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9419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2376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4273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2770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714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_wide_cinematic_futuristic_sports_stadium_i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53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25957" y="245145"/>
            <a:ext cx="874008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rPr lang="en-GB" b="1" i="0" dirty="0">
                <a:solidFill>
                  <a:srgbClr val="FFFFFF"/>
                </a:solidFill>
                <a:effectLst/>
                <a:latin typeface="Calibri" panose="020B0606030504020204" pitchFamily="34" charset="0"/>
              </a:rPr>
              <a:t>S226 HIT140 FOUNDATIONS OF DATA SCIENCE</a:t>
            </a:r>
            <a:endParaRPr b="1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5F1F34A-059E-F8A5-63FA-FC80C39F062C}"/>
              </a:ext>
            </a:extLst>
          </p:cNvPr>
          <p:cNvGrpSpPr/>
          <p:nvPr/>
        </p:nvGrpSpPr>
        <p:grpSpPr>
          <a:xfrm>
            <a:off x="921774" y="3528306"/>
            <a:ext cx="10995709" cy="1417320"/>
            <a:chOff x="489155" y="2331720"/>
            <a:chExt cx="10995709" cy="1417320"/>
          </a:xfrm>
        </p:grpSpPr>
        <p:sp>
          <p:nvSpPr>
            <p:cNvPr id="5" name="Rounded Rectangle 4"/>
            <p:cNvSpPr/>
            <p:nvPr/>
          </p:nvSpPr>
          <p:spPr>
            <a:xfrm>
              <a:off x="489155" y="2331720"/>
              <a:ext cx="2377440" cy="1417320"/>
            </a:xfrm>
            <a:prstGeom prst="roundRect">
              <a:avLst/>
            </a:prstGeom>
            <a:solidFill>
              <a:srgbClr val="1C2737"/>
            </a:solidFill>
            <a:ln>
              <a:solidFill>
                <a:srgbClr val="3A4E67"/>
              </a:solidFill>
            </a:ln>
            <a:effectLst>
              <a:glow rad="228600">
                <a:schemeClr val="accent3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00" b="1">
                  <a:solidFill>
                    <a:srgbClr val="6AA8FF"/>
                  </a:solidFill>
                </a:defRPr>
              </a:pPr>
              <a:r>
                <a:rPr lang="en-AU" sz="2000" dirty="0"/>
                <a:t>01</a:t>
              </a:r>
              <a:endParaRPr sz="2000" dirty="0"/>
            </a:p>
            <a:p>
              <a:pPr>
                <a:defRPr sz="1900" b="1">
                  <a:solidFill>
                    <a:srgbClr val="F8FAFC"/>
                  </a:solidFill>
                </a:defRPr>
              </a:pPr>
              <a:r>
                <a:rPr lang="en-GB" dirty="0"/>
                <a:t>Hemraj </a:t>
              </a:r>
              <a:r>
                <a:rPr lang="en-GB" dirty="0" err="1"/>
                <a:t>Budhathoki</a:t>
              </a:r>
              <a:endParaRPr dirty="0"/>
            </a:p>
            <a:p>
              <a:pPr>
                <a:defRPr sz="1300">
                  <a:solidFill>
                    <a:srgbClr val="BEC9D8"/>
                  </a:solidFill>
                </a:defRPr>
              </a:pPr>
              <a:r>
                <a:rPr dirty="0"/>
                <a:t>Shooting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493008" y="2331720"/>
              <a:ext cx="2377440" cy="1417320"/>
            </a:xfrm>
            <a:prstGeom prst="roundRect">
              <a:avLst/>
            </a:prstGeom>
            <a:solidFill>
              <a:srgbClr val="1C2737"/>
            </a:solidFill>
            <a:ln>
              <a:solidFill>
                <a:srgbClr val="3A4E67"/>
              </a:solidFill>
            </a:ln>
            <a:effectLst>
              <a:glow rad="228600">
                <a:schemeClr val="accent3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00" b="1">
                  <a:solidFill>
                    <a:srgbClr val="6AA8FF"/>
                  </a:solidFill>
                </a:defRPr>
              </a:pPr>
              <a:r>
                <a:rPr sz="2000" dirty="0"/>
                <a:t>02</a:t>
              </a:r>
            </a:p>
            <a:p>
              <a:pPr>
                <a:defRPr sz="1900" b="1">
                  <a:solidFill>
                    <a:srgbClr val="F8FAFC"/>
                  </a:solidFill>
                </a:defRPr>
              </a:pPr>
              <a:r>
                <a:rPr lang="en-GB" dirty="0"/>
                <a:t>Sujan Gautam</a:t>
              </a:r>
              <a:endParaRPr dirty="0"/>
            </a:p>
            <a:p>
              <a:pPr>
                <a:defRPr sz="1300">
                  <a:solidFill>
                    <a:srgbClr val="BEC9D8"/>
                  </a:solidFill>
                </a:defRPr>
              </a:pPr>
              <a:r>
                <a:rPr dirty="0"/>
                <a:t>Yellow Cards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107424" y="2331720"/>
              <a:ext cx="2377440" cy="1417320"/>
            </a:xfrm>
            <a:prstGeom prst="roundRect">
              <a:avLst/>
            </a:prstGeom>
            <a:solidFill>
              <a:srgbClr val="1C2737"/>
            </a:solidFill>
            <a:ln>
              <a:solidFill>
                <a:srgbClr val="3A4E67"/>
              </a:solidFill>
            </a:ln>
            <a:effectLst>
              <a:glow rad="228600">
                <a:schemeClr val="accent3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00" b="1">
                  <a:solidFill>
                    <a:srgbClr val="6AA8FF"/>
                  </a:solidFill>
                </a:defRPr>
              </a:pPr>
              <a:r>
                <a:rPr sz="2000" dirty="0"/>
                <a:t>04</a:t>
              </a:r>
            </a:p>
            <a:p>
              <a:pPr>
                <a:defRPr sz="1900" b="1">
                  <a:solidFill>
                    <a:srgbClr val="F8FAFC"/>
                  </a:solidFill>
                </a:defRPr>
              </a:pPr>
              <a:r>
                <a:rPr lang="en-GB" dirty="0"/>
                <a:t>Sangam GC</a:t>
              </a:r>
              <a:endParaRPr dirty="0"/>
            </a:p>
            <a:p>
              <a:pPr>
                <a:defRPr sz="1300">
                  <a:solidFill>
                    <a:srgbClr val="BEC9D8"/>
                  </a:solidFill>
                </a:defRPr>
              </a:pPr>
              <a:r>
                <a:rPr dirty="0"/>
                <a:t>Team Possession</a:t>
              </a:r>
            </a:p>
          </p:txBody>
        </p:sp>
        <p:sp>
          <p:nvSpPr>
            <p:cNvPr id="11" name="Rounded Rectangle 7">
              <a:extLst>
                <a:ext uri="{FF2B5EF4-FFF2-40B4-BE49-F238E27FC236}">
                  <a16:creationId xmlns:a16="http://schemas.microsoft.com/office/drawing/2014/main" id="{FB92E191-5B74-3FAB-0B1D-98D60C172E4A}"/>
                </a:ext>
              </a:extLst>
            </p:cNvPr>
            <p:cNvSpPr/>
            <p:nvPr/>
          </p:nvSpPr>
          <p:spPr>
            <a:xfrm>
              <a:off x="6321554" y="2331720"/>
              <a:ext cx="2377440" cy="1417320"/>
            </a:xfrm>
            <a:prstGeom prst="roundRect">
              <a:avLst/>
            </a:prstGeom>
            <a:solidFill>
              <a:srgbClr val="1C2737"/>
            </a:solidFill>
            <a:ln>
              <a:solidFill>
                <a:srgbClr val="3A4E67"/>
              </a:solidFill>
            </a:ln>
            <a:effectLst>
              <a:glow rad="228600">
                <a:schemeClr val="accent3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00" b="1">
                  <a:solidFill>
                    <a:srgbClr val="6AA8FF"/>
                  </a:solidFill>
                </a:defRPr>
              </a:pPr>
              <a:r>
                <a:rPr sz="2000" dirty="0"/>
                <a:t>0</a:t>
              </a:r>
              <a:r>
                <a:rPr lang="en-GB" sz="2000" dirty="0"/>
                <a:t>3</a:t>
              </a:r>
              <a:endParaRPr sz="2000" dirty="0"/>
            </a:p>
            <a:p>
              <a:pPr>
                <a:defRPr sz="1900" b="1">
                  <a:solidFill>
                    <a:srgbClr val="F8FAFC"/>
                  </a:solidFill>
                </a:defRPr>
              </a:pPr>
              <a:r>
                <a:rPr lang="en-GB" dirty="0"/>
                <a:t>Ayush Bhusal </a:t>
              </a:r>
              <a:endParaRPr dirty="0"/>
            </a:p>
            <a:p>
              <a:pPr>
                <a:defRPr sz="1300">
                  <a:solidFill>
                    <a:srgbClr val="BEC9D8"/>
                  </a:solidFill>
                </a:defRPr>
              </a:pPr>
              <a:r>
                <a:rPr lang="en-GB" dirty="0"/>
                <a:t>Save %</a:t>
              </a:r>
              <a:endParaRPr dirty="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20E2A08E-FFCB-C879-AB9A-DF2D38D30DE1}"/>
              </a:ext>
            </a:extLst>
          </p:cNvPr>
          <p:cNvSpPr/>
          <p:nvPr/>
        </p:nvSpPr>
        <p:spPr>
          <a:xfrm>
            <a:off x="4291043" y="2266632"/>
            <a:ext cx="4187068" cy="850194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rgbClr val="00B050"/>
            </a:solidFill>
          </a:ln>
          <a:effectLst>
            <a:glow rad="101600">
              <a:srgbClr val="92D050">
                <a:alpha val="60000"/>
              </a:srgb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Group members (Group number – 49)</a:t>
            </a:r>
            <a:endParaRPr lang="en-AU" b="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C14E31-3CD0-F653-0D86-6F7A6F6426D4}"/>
              </a:ext>
            </a:extLst>
          </p:cNvPr>
          <p:cNvSpPr txBox="1"/>
          <p:nvPr/>
        </p:nvSpPr>
        <p:spPr>
          <a:xfrm>
            <a:off x="4286524" y="727884"/>
            <a:ext cx="378315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rPr lang="en-GB" b="1" dirty="0"/>
              <a:t>Group Assignment – 2 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4206633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_wide_cinematic_futuristic_sports_stadium_i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6" y="0"/>
            <a:ext cx="1219169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5800" y="566928"/>
            <a:ext cx="136364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AA8FF"/>
                </a:solidFill>
              </a:defRPr>
            </a:pPr>
            <a:r>
              <a:rPr sz="1400" dirty="0"/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1440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FIFA World Cup 2026 — Statistical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508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BEC9D8"/>
                </a:solidFill>
              </a:defRPr>
            </a:pPr>
            <a:r>
              <a:t>Our team analyses four focal points using a common statistical workflow.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5607980-391E-18B7-70A1-C83754892D42}"/>
              </a:ext>
            </a:extLst>
          </p:cNvPr>
          <p:cNvGrpSpPr/>
          <p:nvPr/>
        </p:nvGrpSpPr>
        <p:grpSpPr>
          <a:xfrm>
            <a:off x="922022" y="3712564"/>
            <a:ext cx="10799064" cy="1417320"/>
            <a:chOff x="685800" y="2331720"/>
            <a:chExt cx="10799064" cy="1417320"/>
          </a:xfrm>
        </p:grpSpPr>
        <p:sp>
          <p:nvSpPr>
            <p:cNvPr id="5" name="Rounded Rectangle 4"/>
            <p:cNvSpPr/>
            <p:nvPr/>
          </p:nvSpPr>
          <p:spPr>
            <a:xfrm>
              <a:off x="685800" y="2331720"/>
              <a:ext cx="2377440" cy="1417320"/>
            </a:xfrm>
            <a:prstGeom prst="roundRect">
              <a:avLst/>
            </a:prstGeom>
            <a:solidFill>
              <a:srgbClr val="1C2737"/>
            </a:solidFill>
            <a:ln>
              <a:solidFill>
                <a:srgbClr val="3A4E67"/>
              </a:solidFill>
            </a:ln>
            <a:effectLst>
              <a:glow rad="228600">
                <a:schemeClr val="accent5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00" b="1">
                  <a:solidFill>
                    <a:srgbClr val="6AA8FF"/>
                  </a:solidFill>
                </a:defRPr>
              </a:pPr>
              <a:r>
                <a:rPr lang="en-AU" sz="2000" dirty="0"/>
                <a:t>01</a:t>
              </a:r>
              <a:endParaRPr sz="2000" dirty="0"/>
            </a:p>
            <a:p>
              <a:pPr>
                <a:defRPr sz="1900" b="1">
                  <a:solidFill>
                    <a:srgbClr val="F8FAFC"/>
                  </a:solidFill>
                </a:defRPr>
              </a:pPr>
              <a:r>
                <a:rPr dirty="0"/>
                <a:t>Attacking</a:t>
              </a:r>
            </a:p>
            <a:p>
              <a:pPr>
                <a:defRPr sz="1300">
                  <a:solidFill>
                    <a:srgbClr val="BEC9D8"/>
                  </a:solidFill>
                </a:defRPr>
              </a:pPr>
              <a:r>
                <a:rPr dirty="0"/>
                <a:t>Shooting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493008" y="2331720"/>
              <a:ext cx="2377440" cy="1417320"/>
            </a:xfrm>
            <a:prstGeom prst="roundRect">
              <a:avLst/>
            </a:prstGeom>
            <a:solidFill>
              <a:srgbClr val="1C2737"/>
            </a:solidFill>
            <a:ln>
              <a:solidFill>
                <a:srgbClr val="3A4E67"/>
              </a:solidFill>
            </a:ln>
            <a:effectLst>
              <a:glow rad="228600">
                <a:schemeClr val="accent5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00" b="1">
                  <a:solidFill>
                    <a:srgbClr val="6AA8FF"/>
                  </a:solidFill>
                </a:defRPr>
              </a:pPr>
              <a:r>
                <a:rPr sz="2000" dirty="0"/>
                <a:t>02</a:t>
              </a:r>
            </a:p>
            <a:p>
              <a:pPr>
                <a:defRPr sz="1900" b="1">
                  <a:solidFill>
                    <a:srgbClr val="F8FAFC"/>
                  </a:solidFill>
                </a:defRPr>
              </a:pPr>
              <a:r>
                <a:rPr dirty="0"/>
                <a:t>Discipline</a:t>
              </a:r>
            </a:p>
            <a:p>
              <a:pPr>
                <a:defRPr sz="1300">
                  <a:solidFill>
                    <a:srgbClr val="BEC9D8"/>
                  </a:solidFill>
                </a:defRPr>
              </a:pPr>
              <a:r>
                <a:rPr dirty="0"/>
                <a:t>Yellow Cards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107424" y="2331720"/>
              <a:ext cx="2377440" cy="1417320"/>
            </a:xfrm>
            <a:prstGeom prst="roundRect">
              <a:avLst/>
            </a:prstGeom>
            <a:solidFill>
              <a:srgbClr val="1C2737"/>
            </a:solidFill>
            <a:ln>
              <a:solidFill>
                <a:srgbClr val="3A4E67"/>
              </a:solidFill>
            </a:ln>
            <a:effectLst>
              <a:glow rad="228600">
                <a:schemeClr val="accent5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00" b="1">
                  <a:solidFill>
                    <a:srgbClr val="6AA8FF"/>
                  </a:solidFill>
                </a:defRPr>
              </a:pPr>
              <a:r>
                <a:rPr sz="2000" dirty="0"/>
                <a:t>04</a:t>
              </a:r>
            </a:p>
            <a:p>
              <a:pPr>
                <a:defRPr sz="1900" b="1">
                  <a:solidFill>
                    <a:srgbClr val="F8FAFC"/>
                  </a:solidFill>
                </a:defRPr>
              </a:pPr>
              <a:r>
                <a:rPr dirty="0"/>
                <a:t>Possession</a:t>
              </a:r>
            </a:p>
            <a:p>
              <a:pPr>
                <a:defRPr sz="1300">
                  <a:solidFill>
                    <a:srgbClr val="BEC9D8"/>
                  </a:solidFill>
                </a:defRPr>
              </a:pPr>
              <a:r>
                <a:rPr dirty="0"/>
                <a:t>Team Possession</a:t>
              </a:r>
            </a:p>
          </p:txBody>
        </p:sp>
        <p:sp>
          <p:nvSpPr>
            <p:cNvPr id="11" name="Rounded Rectangle 7">
              <a:extLst>
                <a:ext uri="{FF2B5EF4-FFF2-40B4-BE49-F238E27FC236}">
                  <a16:creationId xmlns:a16="http://schemas.microsoft.com/office/drawing/2014/main" id="{FB92E191-5B74-3FAB-0B1D-98D60C172E4A}"/>
                </a:ext>
              </a:extLst>
            </p:cNvPr>
            <p:cNvSpPr/>
            <p:nvPr/>
          </p:nvSpPr>
          <p:spPr>
            <a:xfrm>
              <a:off x="6321554" y="2331720"/>
              <a:ext cx="2377440" cy="1417320"/>
            </a:xfrm>
            <a:prstGeom prst="roundRect">
              <a:avLst/>
            </a:prstGeom>
            <a:solidFill>
              <a:srgbClr val="1C2737"/>
            </a:solidFill>
            <a:ln>
              <a:solidFill>
                <a:srgbClr val="3A4E67"/>
              </a:solidFill>
            </a:ln>
            <a:effectLst>
              <a:glow rad="228600">
                <a:schemeClr val="accent5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00" b="1">
                  <a:solidFill>
                    <a:srgbClr val="6AA8FF"/>
                  </a:solidFill>
                </a:defRPr>
              </a:pPr>
              <a:r>
                <a:rPr sz="2000" dirty="0"/>
                <a:t>0</a:t>
              </a:r>
              <a:r>
                <a:rPr lang="en-GB" sz="2000" dirty="0"/>
                <a:t>3</a:t>
              </a:r>
              <a:endParaRPr sz="2000" dirty="0"/>
            </a:p>
            <a:p>
              <a:pPr>
                <a:defRPr sz="1900" b="1">
                  <a:solidFill>
                    <a:srgbClr val="F8FAFC"/>
                  </a:solidFill>
                </a:defRPr>
              </a:pPr>
              <a:r>
                <a:rPr lang="en-GB" dirty="0" err="1"/>
                <a:t>GoalKeeping</a:t>
              </a:r>
              <a:r>
                <a:rPr lang="en-GB" dirty="0"/>
                <a:t> </a:t>
              </a:r>
              <a:endParaRPr dirty="0"/>
            </a:p>
            <a:p>
              <a:pPr>
                <a:defRPr sz="1300">
                  <a:solidFill>
                    <a:srgbClr val="BEC9D8"/>
                  </a:solidFill>
                </a:defRPr>
              </a:pPr>
              <a:r>
                <a:rPr lang="en-GB" dirty="0"/>
                <a:t>Save %</a:t>
              </a:r>
              <a:endParaRPr dirty="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40D53B1A-5027-2843-0DA0-1649844475E9}"/>
              </a:ext>
            </a:extLst>
          </p:cNvPr>
          <p:cNvSpPr/>
          <p:nvPr/>
        </p:nvSpPr>
        <p:spPr>
          <a:xfrm>
            <a:off x="4104230" y="2450890"/>
            <a:ext cx="4187068" cy="850194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rgbClr val="00B050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Focal Point (Sub – topic) </a:t>
            </a:r>
            <a:endParaRPr lang="en-AU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  •  ATTACKING ANALYSIS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2024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 Forwards Shoot More</a:t>
            </a:r>
            <a:endParaRPr lang="en-US" sz="46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Than Midfielders?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World Cup 2026  —  Shots per 90 minutes  |  Two-sample t-test</a:t>
            </a:r>
            <a:endParaRPr lang="en-US" sz="1800" dirty="0">
              <a:solidFill>
                <a:srgbClr val="00206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777240" y="4526280"/>
            <a:ext cx="292608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Hemraj  •  HIT140 Foundations of Data Science  •  Charles Darwin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Methodology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in our project follows the same six-step data-science workflow.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blurRad="76200" dist="25400" dir="5400000" algn="bl" rotWithShape="0">
              <a:srgbClr val="9AA0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226771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96112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 Question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8803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clear, testable research question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20116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blurRad="76200" dist="25400" dir="5400000" algn="bl" rotWithShape="0">
              <a:srgbClr val="9AA0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82312" y="226771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782312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782312" y="28803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clean the raw FBref data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12480" y="20116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blurRad="76200" dist="25400" dir="5400000" algn="bl" rotWithShape="0">
              <a:srgbClr val="9AA0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668512" y="226771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668512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&amp; Sampling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668512" y="28803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group, and take a random sample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0690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blurRad="76200" dist="25400" dir="5400000" algn="bl" rotWithShape="0">
              <a:srgbClr val="9AA0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96112" y="4325112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96112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343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49377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median, standard deviation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26280" y="40690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blurRad="76200" dist="25400" dir="5400000" algn="bl" rotWithShape="0">
              <a:srgbClr val="9AA0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82312" y="4325112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782312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394960" y="4343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782312" y="49377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the true population average (95%)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12480" y="40690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  <a:effectLst>
            <a:outerShdw blurRad="76200" dist="25400" dir="5400000" algn="bl" rotWithShape="0">
              <a:srgbClr val="9AA0B5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668512" y="4325112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8668512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9281160" y="4343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668512" y="49377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Two-sample t-test → is the difference real?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&amp; Hypotheses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05840" y="160020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forwards and midfielders differ significantly in their average number of shots per 90 minutes during the FIFA World Cup 2026?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5303520" cy="548640"/>
          </a:xfrm>
          <a:prstGeom prst="roundRect">
            <a:avLst>
              <a:gd name="adj" fmla="val 13333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32004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 (Null)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8862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difference — forwards and midfielders take the same average shots per 90.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320040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17920" y="3200400"/>
            <a:ext cx="5303520" cy="548640"/>
          </a:xfrm>
          <a:prstGeom prst="roundRect">
            <a:avLst>
              <a:gd name="adj" fmla="val 13333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92240" y="32004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 (Alternative)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8862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difference between the two groups.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8348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DEC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14400" y="49834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level:  </a:t>
            </a: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0.05</a:t>
            </a: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if the p-value is below 0.05, we reject H₀.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 &amp; Cleaning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FBref Player Shooting Stats 2026  —  1,039 players, 19 columns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852160" cy="4114800"/>
          </a:xfrm>
          <a:prstGeom prst="roundRect">
            <a:avLst>
              <a:gd name="adj" fmla="val 1333"/>
            </a:avLst>
          </a:prstGeom>
          <a:solidFill>
            <a:srgbClr val="1E2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965960"/>
            <a:ext cx="5394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"shooting_stats.csv",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skiprows=1)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df.drop(columns=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["-9999","Matches","Rk"])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col in ["90s","Sh","Sh/90"]: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df[col] = pd.to_numeric(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df[col], errors="coerce")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df["Squad"] = df["Squad"].str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.replace(r"^[a-z]{2}\s+", "")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76656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skiprows=1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217627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FBref puts a junk category row on top — we skip it so the real headers load.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28529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drop(columns=...)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32004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leftover export columns we don't need.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38770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pd.to_numeric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422452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columns to be numbers, not text, so we can do maths.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49011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str.replace(...)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524865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country-code prefixes: "us USA" → "USA".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&amp; Sampling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852160" cy="2926080"/>
          </a:xfrm>
          <a:prstGeom prst="roundRect">
            <a:avLst>
              <a:gd name="adj" fmla="val 1875"/>
            </a:avLst>
          </a:prstGeom>
          <a:solidFill>
            <a:srgbClr val="1E22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" y="1691640"/>
            <a:ext cx="5394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played = df[df["90s"] &gt;= 1]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forwards    = played[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played["Pos"]=="FW"]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midfielders = played[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played["Pos"]=="MF"]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fw = forwards.sample(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n=80, random_state=42)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mf = midfielders.sample(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n=80, random_state=42)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76656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90s &gt;=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766560" y="188366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players with at least one full match — stops tiny playing time from distorting per-90 stats.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 == "FW" / "MF"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293522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the two groups we're comparing.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3657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sample(n=80)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398678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random, balanced sample of 80 from each group.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4709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random_state=42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503834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the randomness so the sample is reproducible every run.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70916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14400" y="470916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available:  </a:t>
            </a: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forwards</a:t>
            </a:r>
            <a:r>
              <a:rPr lang="en-US" sz="16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&amp;  </a:t>
            </a: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 midfielders</a:t>
            </a:r>
            <a:r>
              <a:rPr lang="en-US" sz="16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sampled </a:t>
            </a:r>
            <a:r>
              <a:rPr lang="en-US" sz="1600" b="1" dirty="0">
                <a:solidFill>
                  <a:srgbClr val="1E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each</a:t>
            </a:r>
            <a:r>
              <a:rPr lang="en-US" sz="16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 fair comparison.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Descriptive Statistics &amp; Visualisation</a:t>
            </a:r>
            <a:endParaRPr lang="en-US" sz="3000" dirty="0"/>
          </a:p>
        </p:txBody>
      </p:sp>
      <p:pic>
        <p:nvPicPr>
          <p:cNvPr id="3" name="Image 0" descr="clean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371600"/>
            <a:ext cx="5577840" cy="42062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46304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229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20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2.17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700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shots / 90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37560" y="146304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35204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MIDFIELDERS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520440" y="1920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1.26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520440" y="26700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shots / 90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324612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34107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 median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3703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2.04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4531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= 1.23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337560" y="324612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3520440" y="34107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 median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520440" y="3703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</a:t>
            </a:r>
            <a:endParaRPr lang="en-US" sz="4000" dirty="0"/>
          </a:p>
        </p:txBody>
      </p:sp>
      <p:sp>
        <p:nvSpPr>
          <p:cNvPr id="19" name="Text 16"/>
          <p:cNvSpPr txBox="1"/>
          <p:nvPr/>
        </p:nvSpPr>
        <p:spPr>
          <a:xfrm>
            <a:off x="3520440" y="44531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= 1.01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" y="5029200"/>
            <a:ext cx="5212080" cy="822960"/>
          </a:xfrm>
          <a:prstGeom prst="roundRect">
            <a:avLst>
              <a:gd name="adj" fmla="val 6667"/>
            </a:avLst>
          </a:prstGeom>
          <a:solidFill>
            <a:srgbClr val="FDEC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68680" y="5029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 average almost double the shots of midfielders.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Intervals &amp; the t-Test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Intervals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8288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Forwards:   </a:t>
            </a:r>
            <a:r>
              <a:rPr lang="en-US" sz="17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[1.89 , 2.44]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26974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Midfielders:  </a:t>
            </a: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[1.04 , 1.49]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14400" y="3657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ranges do NOT overlap → strong sign the groups genuinely differ.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325880"/>
            <a:ext cx="5212080" cy="3246120"/>
          </a:xfrm>
          <a:prstGeom prst="roundRect">
            <a:avLst>
              <a:gd name="adj" fmla="val 2254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583680" y="1554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Two-Sample t-Test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1488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5.07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7889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 </a:t>
            </a:r>
            <a:r>
              <a:rPr lang="en-US" sz="3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566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is far below 0.05  →  REJECT H₀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475488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equal_var=False makes this Welch's test — it doesn't assume the two groups have equal variance (the safer choice).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 — Is the Difference Meaningful?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significant result is paired with a measure of how large the difference actually is.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6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EFFECT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206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not only real — it is substantial in size.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2024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Cohen's 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937760" y="242316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37760" y="2606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78040" y="242316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178040" y="2606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418320" y="242316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F96167"/>
          </a:solidFill>
          <a:ln w="1905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418320" y="2606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9418320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937760" y="4023360"/>
            <a:ext cx="6583680" cy="1005840"/>
          </a:xfrm>
          <a:prstGeom prst="roundRect">
            <a:avLst>
              <a:gd name="adj" fmla="val 5455"/>
            </a:avLst>
          </a:prstGeom>
          <a:solidFill>
            <a:srgbClr val="FDEC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212080" y="402336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 = 0.80 lands right at the 'large' threshold — forwards shoot substantially more than midfielders, not just detectably more.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Check &amp; Limitation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analysis checks its assumptions and states its limits.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Normality check (Shapiro–Wilk)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23317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Forwards:  </a:t>
            </a: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0.24</a:t>
            </a:r>
            <a:r>
              <a:rPr lang="en-US" sz="16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normal 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14400" y="32004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Midfielders:  </a:t>
            </a: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0.0001</a:t>
            </a:r>
            <a:r>
              <a:rPr lang="en-US" sz="16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departs slightly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11480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Welch's t-test is robust with n = 80 per group (Central Limit Theorem), so the result still holds.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212080" cy="3017520"/>
          </a:xfrm>
          <a:prstGeom prst="roundRect">
            <a:avLst>
              <a:gd name="adj" fmla="val 2424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583680" y="2057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60604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Shots per 90 measures shot volume, not shot quality or goals. A midfielder taking fewer but better chances isn't captured. The midfielder group also departs slightly from normality, so the test is interpreted with mild caution.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4206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Association, not causation — position relates to shot volume; it doesn't prove position causes it.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13128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000" dirty="0">
              <a:solidFill>
                <a:srgbClr val="006082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777240" y="1737360"/>
            <a:ext cx="237744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10698480" cy="1371600"/>
          </a:xfrm>
          <a:prstGeom prst="roundRect">
            <a:avLst>
              <a:gd name="adj" fmla="val 5333"/>
            </a:avLst>
          </a:prstGeom>
          <a:solidFill>
            <a:srgbClr val="242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97280" y="2286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FIFA World Cup 2026, forwards took significantly more shots per 90 minutes than midfielders (p &lt; 0.001).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315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526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proven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9834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agreed: stats, non-overlapping CIs, and t-test all point the same way.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393192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34340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4526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Matches football sense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49834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Forwards play closest to goal and are the main shot-takers.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55280" y="393192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9552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4526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Clean method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9834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sample, correct variable (Sh/90), Welch's t-test.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960120"/>
            <a:ext cx="61264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dirty="0">
                <a:latin typeface="Calibri"/>
              </a:rPr>
              <a:t>Goalkeeping Performance &amp;</a:t>
            </a:r>
            <a:br>
              <a:rPr dirty="0"/>
            </a:br>
            <a:r>
              <a:rPr sz="2700" b="1" dirty="0">
                <a:latin typeface="Calibri"/>
              </a:rPr>
              <a:t>Tournament Progression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48840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latin typeface="Calibri"/>
              </a:rPr>
              <a:t>FIFA World Cup 2026 • Statistical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19" y="4297680"/>
            <a:ext cx="22009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latin typeface="Calibri"/>
              </a:rPr>
              <a:t>Research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572000"/>
            <a:ext cx="658368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latin typeface="Calibri"/>
              </a:rPr>
              <a:t>Do goalkeepers from teams that progressed to the knockout stage differ significantly in average Save% from goalkeepers whose teams were eliminated in the group stage?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"/>
    </mc:Choice>
    <mc:Fallback xmlns="">
      <p:transition spd="slow" advTm="2074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9184"/>
            <a:ext cx="502920" cy="36576"/>
          </a:xfrm>
          <a:prstGeom prst="rect">
            <a:avLst/>
          </a:prstGeom>
          <a:solidFill>
            <a:srgbClr val="1A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Calibri"/>
              </a:rPr>
              <a:t>01 •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804672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latin typeface="Calibri"/>
              </a:rPr>
              <a:t>What are we testing?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8961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latin typeface="Calibri"/>
              </a:rPr>
              <a:t>Research design, variables and statistical objective.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347472"/>
            <a:ext cx="246888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latin typeface="Calibri"/>
              </a:rPr>
              <a:t>HIT140 • FIFA World Cup 2026 • Task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19" y="1691640"/>
            <a:ext cx="23680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alibri" panose="020B0604020202020204" pitchFamily="34" charset="0"/>
              <a:buChar char="•"/>
            </a:pPr>
            <a:r>
              <a:rPr sz="1400" b="1" dirty="0">
                <a:latin typeface="Calibri"/>
              </a:rPr>
              <a:t>RESEARCH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latin typeface="Calibri"/>
              </a:rPr>
              <a:t>Do goalkeepers from knockout-stage teams have a significantly different average Save% from goalkeepers whose teams were eliminated in the group stage?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91640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alibri" panose="020B0604020202020204" pitchFamily="34" charset="0"/>
              <a:buChar char="•"/>
            </a:pPr>
            <a:r>
              <a:rPr sz="1400" b="1" dirty="0">
                <a:latin typeface="Calibri"/>
              </a:rPr>
              <a:t>VARIABLES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65960"/>
            <a:ext cx="47548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• Outcome: goalkeeper save percentage (Save%)</a:t>
            </a:r>
          </a:p>
          <a:p>
            <a:r>
              <a:rPr dirty="0"/>
              <a:t>• Grouping variable: tournament progression</a:t>
            </a:r>
          </a:p>
          <a:p>
            <a:r>
              <a:rPr dirty="0"/>
              <a:t>• Groups: Knockout vs Group Eliminated</a:t>
            </a:r>
          </a:p>
          <a:p>
            <a:r>
              <a:rPr dirty="0"/>
              <a:t>• Significance level: α = 0.05</a:t>
            </a:r>
          </a:p>
          <a:p>
            <a:r>
              <a:rPr dirty="0"/>
              <a:t>• Two-sided alternative hypothesis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160520"/>
            <a:ext cx="1828800" cy="1143000"/>
          </a:xfrm>
          <a:prstGeom prst="roundRect">
            <a:avLst/>
          </a:prstGeom>
          <a:solidFill>
            <a:srgbClr val="081A2C"/>
          </a:solidFill>
          <a:ln>
            <a:solidFill>
              <a:srgbClr val="1F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7512" y="4297680"/>
            <a:ext cx="14996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Calibri"/>
              </a:rPr>
              <a:t>POPULATION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4553712"/>
            <a:ext cx="14996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chemeClr val="bg1"/>
                </a:solidFill>
                <a:latin typeface="Calibri"/>
              </a:rPr>
              <a:t>59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5001768"/>
            <a:ext cx="14996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chemeClr val="bg1"/>
                </a:solidFill>
                <a:latin typeface="Calibri"/>
              </a:rPr>
              <a:t>eligible goalkeepers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4600" y="4160520"/>
            <a:ext cx="1828800" cy="1143000"/>
          </a:xfrm>
          <a:prstGeom prst="roundRect">
            <a:avLst/>
          </a:prstGeom>
          <a:solidFill>
            <a:srgbClr val="081A2C"/>
          </a:solidFill>
          <a:ln>
            <a:solidFill>
              <a:srgbClr val="1F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79192" y="4297680"/>
            <a:ext cx="14996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Calibri"/>
              </a:rPr>
              <a:t>SAMPLE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4553712"/>
            <a:ext cx="14996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chemeClr val="bg1"/>
                </a:solidFill>
                <a:latin typeface="Calibri"/>
              </a:rPr>
              <a:t>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9192" y="5001768"/>
            <a:ext cx="14996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chemeClr val="bg1"/>
                </a:solidFill>
                <a:latin typeface="Calibri"/>
              </a:rPr>
              <a:t>random sample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4160520"/>
            <a:ext cx="1828800" cy="1143000"/>
          </a:xfrm>
          <a:prstGeom prst="roundRect">
            <a:avLst/>
          </a:prstGeom>
          <a:solidFill>
            <a:srgbClr val="081A2C"/>
          </a:solidFill>
          <a:ln>
            <a:solidFill>
              <a:srgbClr val="1F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690872" y="4297680"/>
            <a:ext cx="14996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chemeClr val="bg1"/>
                </a:solidFill>
                <a:latin typeface="Calibri"/>
              </a:rPr>
              <a:t>GROUPS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0872" y="4553712"/>
            <a:ext cx="14996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chemeClr val="bg1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968984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chemeClr val="bg1"/>
                </a:solidFill>
                <a:latin typeface="Calibri"/>
              </a:rPr>
              <a:t>15 knockout • 15 eliminated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160520"/>
            <a:ext cx="2087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alibri" panose="020B0604020202020204" pitchFamily="34" charset="0"/>
              <a:buChar char="•"/>
            </a:pPr>
            <a:r>
              <a:rPr b="1" dirty="0">
                <a:latin typeface="Calibri"/>
              </a:rPr>
              <a:t>Statistical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4622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latin typeface="Calibri"/>
              </a:rPr>
              <a:t>Welch independent two-sample t-test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892040"/>
            <a:ext cx="4754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latin typeface="Calibri"/>
              </a:rPr>
              <a:t>Selected for two independent groups; Welch's test does not require equal population variances.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36"/>
    </mc:Choice>
    <mc:Fallback xmlns="">
      <p:transition spd="slow" advTm="4536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9184"/>
            <a:ext cx="502920" cy="36576"/>
          </a:xfrm>
          <a:prstGeom prst="rect">
            <a:avLst/>
          </a:prstGeom>
          <a:solidFill>
            <a:srgbClr val="1A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latin typeface="Calibri"/>
              </a:rPr>
              <a:t>02 •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804672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latin typeface="Calibri"/>
              </a:rPr>
              <a:t>From raw data to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8961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latin typeface="Calibri"/>
              </a:rPr>
              <a:t>A reproducible workflow using Goalkeeping Statistics and Match Results.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347472"/>
            <a:ext cx="246888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latin typeface="Calibri"/>
              </a:rPr>
              <a:t>HIT140 • FIFA World Cup 2026 • Task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67712"/>
            <a:ext cx="1645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latin typeface="Calibri"/>
              </a:rPr>
              <a:t>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33472"/>
            <a:ext cx="18745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latin typeface="Calibri"/>
              </a:rPr>
              <a:t>Goalkeeping Stats</a:t>
            </a:r>
            <a:br>
              <a:rPr sz="1200" dirty="0"/>
            </a:br>
            <a:r>
              <a:rPr sz="1200" b="0" dirty="0">
                <a:latin typeface="Calibri"/>
              </a:rPr>
              <a:t>+ Match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95728"/>
            <a:ext cx="320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latin typeface="Calibr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632" y="1874519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0632" y="2267712"/>
            <a:ext cx="1645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latin typeface="Calibri"/>
              </a:rPr>
              <a:t>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0632" y="2633472"/>
            <a:ext cx="18745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latin typeface="Calibri"/>
              </a:rPr>
              <a:t>Remove undefined Save%</a:t>
            </a:r>
            <a:br>
              <a:rPr sz="1200" dirty="0"/>
            </a:br>
            <a:r>
              <a:rPr sz="1200" b="0" dirty="0" err="1">
                <a:latin typeface="Calibri"/>
              </a:rPr>
              <a:t>standardise</a:t>
            </a:r>
            <a:r>
              <a:rPr sz="1200" b="0" dirty="0">
                <a:latin typeface="Calibri"/>
              </a:rPr>
              <a:t> team names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395728"/>
            <a:ext cx="320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8344" y="1874519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8344" y="2267712"/>
            <a:ext cx="1645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latin typeface="Calibri"/>
              </a:rPr>
              <a:t>CLASSIFY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38344" y="2633472"/>
            <a:ext cx="18745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latin typeface="Calibri"/>
              </a:rPr>
              <a:t>Knockout rounds → Knockout</a:t>
            </a:r>
            <a:br>
              <a:rPr sz="1200" dirty="0"/>
            </a:br>
            <a:r>
              <a:rPr sz="1200" b="0" dirty="0">
                <a:latin typeface="Calibri"/>
              </a:rPr>
              <a:t>remaining → Eliminated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67144" y="2395728"/>
            <a:ext cx="320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6056" y="1874519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06056" y="2267712"/>
            <a:ext cx="1645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latin typeface="Calibri"/>
              </a:rPr>
              <a:t>SAMPLE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6056" y="2633472"/>
            <a:ext cx="18745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latin typeface="Calibri"/>
              </a:rPr>
              <a:t>Equal-allocation stratified</a:t>
            </a:r>
            <a:br>
              <a:rPr sz="1200" dirty="0"/>
            </a:br>
            <a:r>
              <a:rPr sz="1200" b="0" dirty="0">
                <a:latin typeface="Calibri"/>
              </a:rPr>
              <a:t>15 + 15 goalkeepers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6" y="2395728"/>
            <a:ext cx="320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3768" y="1874519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73768" y="2267712"/>
            <a:ext cx="1645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Calibri"/>
              </a:rPr>
              <a:t>ANALYSE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8627" y="2663413"/>
            <a:ext cx="18745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latin typeface="Calibri"/>
              </a:rPr>
              <a:t>Describe • 95% CI</a:t>
            </a:r>
            <a:br>
              <a:rPr sz="1200" dirty="0"/>
            </a:br>
            <a:r>
              <a:rPr sz="1200" b="0" dirty="0">
                <a:latin typeface="Calibri"/>
              </a:rPr>
              <a:t>Welch t-test • effect size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19" y="4251960"/>
            <a:ext cx="25844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latin typeface="Calibri"/>
              </a:rPr>
              <a:t>DATA QUALITY / WRANGLING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572000"/>
            <a:ext cx="107899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• 62 raw goalkeeper records were loaded.</a:t>
            </a:r>
          </a:p>
          <a:p>
            <a:r>
              <a:rPr dirty="0"/>
              <a:t>• 3 records with undefined Save% were excluded because </a:t>
            </a:r>
            <a:r>
              <a:rPr dirty="0" err="1"/>
              <a:t>SoTA</a:t>
            </a:r>
            <a:r>
              <a:rPr dirty="0"/>
              <a:t> = 0, leaving 59 eligible goalkeepers.</a:t>
            </a:r>
          </a:p>
          <a:p>
            <a:r>
              <a:rPr dirty="0"/>
              <a:t>• Team names were </a:t>
            </a:r>
            <a:r>
              <a:rPr dirty="0" err="1"/>
              <a:t>standardi</a:t>
            </a:r>
            <a:r>
              <a:rPr lang="en-GB" dirty="0"/>
              <a:t>s</a:t>
            </a:r>
            <a:r>
              <a:rPr dirty="0"/>
              <a:t>ed across both datasets; all 48 teams matched.</a:t>
            </a:r>
          </a:p>
          <a:p>
            <a:r>
              <a:rPr dirty="0"/>
              <a:t>• Match results identified 32 knockout-stage teams.</a:t>
            </a:r>
          </a:p>
          <a:p>
            <a:r>
              <a:rPr dirty="0"/>
              <a:t>• Eligible population: 40 Knockout and 19 Group Eliminated goalkeepers.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35"/>
    </mc:Choice>
    <mc:Fallback xmlns="">
      <p:transition spd="slow" advTm="5535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9184"/>
            <a:ext cx="502920" cy="36576"/>
          </a:xfrm>
          <a:prstGeom prst="rect">
            <a:avLst/>
          </a:prstGeom>
          <a:solidFill>
            <a:srgbClr val="1A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Calibri"/>
              </a:rPr>
              <a:t>03 • 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804672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latin typeface="Calibri"/>
              </a:rPr>
              <a:t>Population, sample and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latin typeface="Calibri"/>
              </a:rPr>
              <a:t>Equal-allocation stratified random sampling ensured both progression groups were represented equally.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2011680" cy="1234440"/>
          </a:xfrm>
          <a:prstGeom prst="roundRect">
            <a:avLst/>
          </a:prstGeom>
          <a:solidFill>
            <a:srgbClr val="081A2C"/>
          </a:solidFill>
          <a:ln>
            <a:solidFill>
              <a:srgbClr val="1F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7512" y="1874519"/>
            <a:ext cx="1682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chemeClr val="bg1"/>
                </a:solidFill>
                <a:latin typeface="Calibri"/>
              </a:rPr>
              <a:t>POPULATION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130552"/>
            <a:ext cx="16824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chemeClr val="bg1"/>
                </a:solidFill>
                <a:latin typeface="Calibri"/>
              </a:rPr>
              <a:t>59 goalkeepers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7772"/>
            <a:ext cx="16824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dirty="0">
                <a:solidFill>
                  <a:schemeClr val="bg1"/>
                </a:solidFill>
                <a:latin typeface="Calibri"/>
              </a:rPr>
              <a:t>40 knockout • 19 eliminated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1737360"/>
            <a:ext cx="2011680" cy="1234440"/>
          </a:xfrm>
          <a:prstGeom prst="roundRect">
            <a:avLst/>
          </a:prstGeom>
          <a:solidFill>
            <a:srgbClr val="081A2C"/>
          </a:solidFill>
          <a:ln>
            <a:solidFill>
              <a:srgbClr val="1F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62072" y="1874519"/>
            <a:ext cx="1682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chemeClr val="bg1"/>
                </a:solidFill>
                <a:latin typeface="Calibri"/>
              </a:rPr>
              <a:t>SAMPLE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2130552"/>
            <a:ext cx="16824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chemeClr val="bg1"/>
                </a:solidFill>
                <a:latin typeface="Calibri"/>
              </a:rPr>
              <a:t>30 goalkeepers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760161"/>
            <a:ext cx="16824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dirty="0">
                <a:solidFill>
                  <a:schemeClr val="bg1"/>
                </a:solidFill>
                <a:latin typeface="Calibri"/>
              </a:rPr>
              <a:t>15 knockout • 15 eliminated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1737360"/>
            <a:ext cx="2011680" cy="1234440"/>
          </a:xfrm>
          <a:prstGeom prst="roundRect">
            <a:avLst/>
          </a:prstGeom>
          <a:solidFill>
            <a:srgbClr val="081A2C"/>
          </a:solidFill>
          <a:ln>
            <a:solidFill>
              <a:srgbClr val="1F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56631" y="1874519"/>
            <a:ext cx="1682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chemeClr val="bg1"/>
                </a:solidFill>
                <a:latin typeface="Calibri"/>
              </a:rPr>
              <a:t>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1" y="2130552"/>
            <a:ext cx="16824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chemeClr val="bg1"/>
                </a:solidFill>
                <a:latin typeface="Calibri"/>
              </a:rPr>
              <a:t>15 + 15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1" y="2578608"/>
            <a:ext cx="16824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chemeClr val="bg1"/>
                </a:solidFill>
                <a:latin typeface="Calibri"/>
              </a:rPr>
              <a:t>equal allocation by stratum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1737360"/>
            <a:ext cx="2011680" cy="1234440"/>
          </a:xfrm>
          <a:prstGeom prst="roundRect">
            <a:avLst/>
          </a:prstGeom>
          <a:solidFill>
            <a:srgbClr val="081A2C"/>
          </a:solidFill>
          <a:ln>
            <a:solidFill>
              <a:srgbClr val="1F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251192" y="1874519"/>
            <a:ext cx="1682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chemeClr val="bg1"/>
                </a:solidFill>
                <a:latin typeface="Calibri"/>
              </a:rPr>
              <a:t>MISSING SAVE%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1192" y="2130552"/>
            <a:ext cx="16824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chemeClr val="bg1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1192" y="2578608"/>
            <a:ext cx="16824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chemeClr val="bg1"/>
                </a:solidFill>
                <a:latin typeface="Calibri"/>
              </a:rPr>
              <a:t>excluded before sampling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19" y="3520440"/>
            <a:ext cx="32824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latin typeface="Calibri"/>
              </a:rPr>
              <a:t>WHY STRATIFIED SAMPLING?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840480"/>
            <a:ext cx="5212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latin typeface="Calibri"/>
              </a:rPr>
              <a:t>The research question directly compares two progression groups. Sampling separately within each group guarantees representation and gives equal group sizes for the comparison.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799" y="3520440"/>
            <a:ext cx="24187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Calibri"/>
              </a:rPr>
              <a:t>ANALYTICAL SAMPLE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840480"/>
            <a:ext cx="47548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• Knockout: 15 randomly selected from 40 eligible goalkeepers</a:t>
            </a:r>
          </a:p>
          <a:p>
            <a:r>
              <a:rPr dirty="0"/>
              <a:t>• Group Eliminated: 15 randomly selected from 19 eligible goalkeepers</a:t>
            </a:r>
          </a:p>
          <a:p>
            <a:r>
              <a:rPr dirty="0"/>
              <a:t>• Total analytical sample: n = 30</a:t>
            </a:r>
          </a:p>
          <a:p>
            <a:r>
              <a:rPr dirty="0"/>
              <a:t>• Fixed seed = 42 for reproducibility</a:t>
            </a:r>
          </a:p>
          <a:p>
            <a:r>
              <a:rPr dirty="0"/>
              <a:t>• Same sample used for descriptive and inferential analysis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59"/>
    </mc:Choice>
    <mc:Fallback xmlns="">
      <p:transition spd="slow" advTm="4259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9184"/>
            <a:ext cx="502920" cy="36576"/>
          </a:xfrm>
          <a:prstGeom prst="rect">
            <a:avLst/>
          </a:prstGeom>
          <a:solidFill>
            <a:srgbClr val="1A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latin typeface="Calibri"/>
              </a:rPr>
              <a:t>04 •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804672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latin typeface="Calibri"/>
              </a:rPr>
              <a:t>What does the sample show?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6376" y="1106864"/>
            <a:ext cx="8961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latin typeface="Calibri"/>
              </a:rPr>
              <a:t>Knockout-stage goalkeepers recorded a higher mean and median Save%, with greater variability.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691640"/>
            <a:ext cx="2834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alibri" panose="020B0604020202020204" pitchFamily="34" charset="0"/>
              <a:buChar char="•"/>
            </a:pPr>
            <a:r>
              <a:rPr sz="1400" b="1" dirty="0">
                <a:latin typeface="Calibri"/>
              </a:rPr>
              <a:t>DESCRIPTIVE SUMMARY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60828AB-7A13-39B8-32B5-DE5BF3AFAB60}"/>
              </a:ext>
            </a:extLst>
          </p:cNvPr>
          <p:cNvGrpSpPr/>
          <p:nvPr/>
        </p:nvGrpSpPr>
        <p:grpSpPr>
          <a:xfrm>
            <a:off x="6446520" y="2029968"/>
            <a:ext cx="5116215" cy="1149025"/>
            <a:chOff x="6446520" y="2029968"/>
            <a:chExt cx="4709160" cy="1149025"/>
          </a:xfrm>
        </p:grpSpPr>
        <p:sp>
          <p:nvSpPr>
            <p:cNvPr id="10" name="TextBox 9"/>
            <p:cNvSpPr txBox="1"/>
            <p:nvPr/>
          </p:nvSpPr>
          <p:spPr>
            <a:xfrm>
              <a:off x="6446520" y="2029968"/>
              <a:ext cx="16459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dirty="0">
                  <a:latin typeface="Calibri"/>
                </a:rPr>
                <a:t>Group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183879" y="2029968"/>
              <a:ext cx="5029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>
                  <a:latin typeface="Calibri"/>
                </a:rPr>
                <a:t>n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732520" y="2029968"/>
              <a:ext cx="7315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>
                  <a:latin typeface="Calibri"/>
                </a:rPr>
                <a:t>Mean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555480" y="2029968"/>
              <a:ext cx="8229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>
                  <a:latin typeface="Calibri"/>
                </a:rPr>
                <a:t>Median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0515600" y="2029968"/>
              <a:ext cx="6400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>
                  <a:latin typeface="Calibri"/>
                </a:rPr>
                <a:t>SD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446520" y="2395728"/>
              <a:ext cx="16459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dirty="0">
                  <a:latin typeface="Calibri"/>
                </a:rPr>
                <a:t>Group Eliminated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83879" y="2395728"/>
              <a:ext cx="5029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>
                  <a:latin typeface="Calibri"/>
                </a:rPr>
                <a:t>15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732520" y="2395728"/>
              <a:ext cx="7315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>
                  <a:latin typeface="Calibri"/>
                </a:rPr>
                <a:t>53.64%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555480" y="2395728"/>
              <a:ext cx="8229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>
                  <a:latin typeface="Calibri"/>
                </a:rPr>
                <a:t>54.50%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0515600" y="2395728"/>
              <a:ext cx="6400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>
                  <a:latin typeface="Calibri"/>
                </a:rPr>
                <a:t>17.91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446520" y="2871216"/>
              <a:ext cx="16459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>
                  <a:latin typeface="Calibri"/>
                </a:rPr>
                <a:t>Knockout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183879" y="2871216"/>
              <a:ext cx="5029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>
                  <a:latin typeface="Calibri"/>
                </a:rPr>
                <a:t>15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732520" y="2871216"/>
              <a:ext cx="7315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>
                  <a:latin typeface="Calibri"/>
                </a:rPr>
                <a:t>63.19%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555480" y="2871216"/>
              <a:ext cx="8229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>
                  <a:latin typeface="Calibri"/>
                </a:rPr>
                <a:t>69.20%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515600" y="2871216"/>
              <a:ext cx="6400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>
                  <a:latin typeface="Calibri"/>
                </a:rPr>
                <a:t>20.44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6446519" y="3611880"/>
            <a:ext cx="26974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alibri" panose="020B0604020202020204" pitchFamily="34" charset="0"/>
              <a:buChar char="•"/>
            </a:pPr>
            <a:r>
              <a:rPr sz="1400" b="1" dirty="0">
                <a:latin typeface="Calibri"/>
              </a:rPr>
              <a:t>OBSERVED DIFFERENCE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3510" y="409759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latin typeface="Calibri"/>
              </a:rPr>
              <a:t>+9.55 percentage points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434840"/>
            <a:ext cx="4754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latin typeface="Calibri"/>
              </a:rPr>
              <a:t>Knockout goalkeepers also had a higher median (69.20% vs 54.50%). The knockout sample showed greater variability (SD 20.44 vs 17.91).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303520"/>
            <a:ext cx="4754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latin typeface="Calibri"/>
              </a:rPr>
              <a:t>Descriptively, the knockout group performed better, but statistical inference is required before drawing a population-level conclusion.</a:t>
            </a:r>
          </a:p>
        </p:txBody>
      </p:sp>
      <p:pic>
        <p:nvPicPr>
          <p:cNvPr id="29" name="Picture 28" descr="goalkeeper_save_percentage_bar_chart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5486400" cy="3383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26"/>
    </mc:Choice>
    <mc:Fallback xmlns="">
      <p:transition spd="slow" advTm="2726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9184"/>
            <a:ext cx="502920" cy="36576"/>
          </a:xfrm>
          <a:prstGeom prst="rect">
            <a:avLst/>
          </a:prstGeom>
          <a:solidFill>
            <a:srgbClr val="1A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latin typeface="Calibri"/>
              </a:rPr>
              <a:t>05 •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804672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latin typeface="Calibri"/>
              </a:rPr>
              <a:t>Distribution and assumption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77652"/>
            <a:ext cx="8961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latin typeface="Calibri"/>
              </a:rPr>
              <a:t>The box plot shows substantial overlap and an extreme 0% observation in the knockout sample.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347472"/>
            <a:ext cx="246888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latin typeface="Calibri"/>
              </a:rPr>
              <a:t>HIT140 • FIFA World Cup 2026 • Task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3746" y="5230368"/>
            <a:ext cx="39510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latin typeface="Calibri"/>
              </a:rPr>
              <a:t>NORMALITY / DISTRIBUTION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468112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latin typeface="Calibri"/>
              </a:rPr>
              <a:t>Knockout: W = 0.7691, p = 0.0015   •   Group Eliminated: W = 0.9730, p = 0.8998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8521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latin typeface="Calibri"/>
              </a:rPr>
              <a:t>The knockout sample departs from normality, largely reflecting the extreme 0% observation. It was retained as a valid sampled observation, so the Welch t-test is interpreted cautiously.</a:t>
            </a:r>
          </a:p>
        </p:txBody>
      </p:sp>
      <p:pic>
        <p:nvPicPr>
          <p:cNvPr id="13" name="Picture 12" descr="goalkeeper_save_percentage_boxplot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881360" cy="3611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90"/>
    </mc:Choice>
    <mc:Fallback xmlns="">
      <p:transition spd="slow" advTm="169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9184"/>
            <a:ext cx="502920" cy="36576"/>
          </a:xfrm>
          <a:prstGeom prst="rect">
            <a:avLst/>
          </a:prstGeom>
          <a:solidFill>
            <a:srgbClr val="1A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79" y="457200"/>
            <a:ext cx="29216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latin typeface="Calibri"/>
              </a:rPr>
              <a:t>06 • CONFIDENCE INTERVALS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804672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dirty="0">
                <a:latin typeface="Calibri"/>
              </a:rPr>
              <a:t>How precise are the group means?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8961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latin typeface="Calibri"/>
              </a:rPr>
              <a:t>95% confidence intervals quantify uncertainty around average goalkeeper Save%.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347472"/>
            <a:ext cx="246888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latin typeface="Calibri"/>
              </a:rPr>
              <a:t>HIT140 • FIFA World Cup 2026 • Task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828800"/>
            <a:ext cx="2240280" cy="1234440"/>
          </a:xfrm>
          <a:prstGeom prst="roundRect">
            <a:avLst/>
          </a:prstGeom>
          <a:solidFill>
            <a:srgbClr val="081A2C"/>
          </a:solidFill>
          <a:ln>
            <a:solidFill>
              <a:srgbClr val="1F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11112" y="1965960"/>
            <a:ext cx="1911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Calibri"/>
              </a:rPr>
              <a:t>GROUP ELIMINATED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2221992"/>
            <a:ext cx="1911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chemeClr val="bg1"/>
                </a:solidFill>
                <a:latin typeface="Calibri"/>
              </a:rPr>
              <a:t>53.64%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2670048"/>
            <a:ext cx="1911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chemeClr val="bg1"/>
                </a:solidFill>
                <a:latin typeface="Calibri"/>
              </a:rPr>
              <a:t>95% CI: 43.72%–63.56%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828800"/>
            <a:ext cx="2240280" cy="1234440"/>
          </a:xfrm>
          <a:prstGeom prst="roundRect">
            <a:avLst/>
          </a:prstGeom>
          <a:solidFill>
            <a:srgbClr val="081A2C"/>
          </a:solidFill>
          <a:ln>
            <a:solidFill>
              <a:srgbClr val="1F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25712" y="1965960"/>
            <a:ext cx="1911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Calibri"/>
              </a:rPr>
              <a:t>KNOCKOUT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5712" y="2221992"/>
            <a:ext cx="1911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chemeClr val="bg1"/>
                </a:solidFill>
                <a:latin typeface="Calibri"/>
              </a:rPr>
              <a:t>63.19%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5712" y="2670048"/>
            <a:ext cx="1911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chemeClr val="bg1"/>
                </a:solidFill>
                <a:latin typeface="Calibri"/>
              </a:rPr>
              <a:t>95% CI: 51.87%–74.51%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566160"/>
            <a:ext cx="1645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latin typeface="Calibri"/>
              </a:rP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886200"/>
            <a:ext cx="47548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latin typeface="Calibri"/>
              </a:rPr>
              <a:t>Both intervals are fairly wide because each group contains only 15 goalkeepers. The intervals overlap, so significance should be determined by the formal two-sample test rather than CI overlap alone.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19" y="5349240"/>
            <a:ext cx="51653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Calibri"/>
              </a:rPr>
              <a:t>Next: test H₀: μKnockout = μEliminated against H₁: μKnockout ≠ μEliminated.</a:t>
            </a:r>
          </a:p>
        </p:txBody>
      </p:sp>
      <p:pic>
        <p:nvPicPr>
          <p:cNvPr id="20" name="Picture 19" descr="goalkeeping_ci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5577840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9184"/>
            <a:ext cx="502920" cy="36576"/>
          </a:xfrm>
          <a:prstGeom prst="rect">
            <a:avLst/>
          </a:prstGeom>
          <a:solidFill>
            <a:srgbClr val="1A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latin typeface="Calibri"/>
              </a:rPr>
              <a:t>07 •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804672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latin typeface="Calibri"/>
              </a:rPr>
              <a:t>Is the difference statistically significant?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613" y="1041040"/>
            <a:ext cx="8961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latin typeface="Calibri"/>
              </a:rPr>
              <a:t>Welch independent two-sample t-test; two-sided alternative; α = 0.05.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347472"/>
            <a:ext cx="246888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latin typeface="Calibri"/>
              </a:rPr>
              <a:t>HIT140 • FIFA World Cup 2026 • Task 4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4AE0DDA-7AAA-AD79-3B46-1E413747D424}"/>
              </a:ext>
            </a:extLst>
          </p:cNvPr>
          <p:cNvGrpSpPr/>
          <p:nvPr/>
        </p:nvGrpSpPr>
        <p:grpSpPr>
          <a:xfrm>
            <a:off x="622874" y="2738481"/>
            <a:ext cx="10807126" cy="1364816"/>
            <a:chOff x="428613" y="2185415"/>
            <a:chExt cx="10807126" cy="1364816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CEEC7E2-794E-5EC0-CA86-DFEBA8BE40CB}"/>
                </a:ext>
              </a:extLst>
            </p:cNvPr>
            <p:cNvGrpSpPr/>
            <p:nvPr/>
          </p:nvGrpSpPr>
          <p:grpSpPr>
            <a:xfrm>
              <a:off x="428613" y="2185415"/>
              <a:ext cx="2423160" cy="1325880"/>
              <a:chOff x="502920" y="1783080"/>
              <a:chExt cx="2423160" cy="1325880"/>
            </a:xfrm>
          </p:grpSpPr>
          <p:sp>
            <p:nvSpPr>
              <p:cNvPr id="8" name="Rounded Rectangle 7"/>
              <p:cNvSpPr/>
              <p:nvPr/>
            </p:nvSpPr>
            <p:spPr>
              <a:xfrm>
                <a:off x="502920" y="1783080"/>
                <a:ext cx="2423160" cy="1325880"/>
              </a:xfrm>
              <a:prstGeom prst="roundRect">
                <a:avLst/>
              </a:prstGeom>
              <a:solidFill>
                <a:srgbClr val="081A2C"/>
              </a:solidFill>
              <a:ln>
                <a:solidFill>
                  <a:srgbClr val="1F37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667512" y="1920240"/>
                <a:ext cx="209397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000" b="1" dirty="0">
                    <a:solidFill>
                      <a:schemeClr val="bg1"/>
                    </a:solidFill>
                    <a:latin typeface="Calibri"/>
                  </a:rPr>
                  <a:t>TEST STATISTIC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667512" y="2176272"/>
                <a:ext cx="209397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2000" b="1" dirty="0">
                    <a:solidFill>
                      <a:schemeClr val="bg1"/>
                    </a:solidFill>
                    <a:latin typeface="Calibri"/>
                  </a:rPr>
                  <a:t>1.3614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667512" y="2624328"/>
                <a:ext cx="209397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200" b="0" dirty="0">
                    <a:solidFill>
                      <a:schemeClr val="bg1"/>
                    </a:solidFill>
                    <a:latin typeface="Calibri"/>
                  </a:rPr>
                  <a:t>t-value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2B37D3D-1882-9597-7932-7D75637E9F79}"/>
                </a:ext>
              </a:extLst>
            </p:cNvPr>
            <p:cNvGrpSpPr/>
            <p:nvPr/>
          </p:nvGrpSpPr>
          <p:grpSpPr>
            <a:xfrm>
              <a:off x="3072863" y="2214814"/>
              <a:ext cx="2423160" cy="1325880"/>
              <a:chOff x="3154680" y="1783080"/>
              <a:chExt cx="2423160" cy="1325880"/>
            </a:xfrm>
          </p:grpSpPr>
          <p:sp>
            <p:nvSpPr>
              <p:cNvPr id="12" name="Rounded Rectangle 11"/>
              <p:cNvSpPr/>
              <p:nvPr/>
            </p:nvSpPr>
            <p:spPr>
              <a:xfrm>
                <a:off x="3154680" y="1783080"/>
                <a:ext cx="2423160" cy="1325880"/>
              </a:xfrm>
              <a:prstGeom prst="roundRect">
                <a:avLst/>
              </a:prstGeom>
              <a:solidFill>
                <a:srgbClr val="081A2C"/>
              </a:solidFill>
              <a:ln>
                <a:solidFill>
                  <a:srgbClr val="1F37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3319272" y="1920240"/>
                <a:ext cx="209397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000" b="1" dirty="0">
                    <a:solidFill>
                      <a:schemeClr val="bg1"/>
                    </a:solidFill>
                    <a:latin typeface="Calibri"/>
                  </a:rPr>
                  <a:t>DEGREES OF FREEDOM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3319272" y="2176272"/>
                <a:ext cx="209397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2000" b="1">
                    <a:solidFill>
                      <a:schemeClr val="bg1"/>
                    </a:solidFill>
                    <a:latin typeface="Calibri"/>
                  </a:rPr>
                  <a:t>27.53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3319272" y="2624328"/>
                <a:ext cx="209397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200" b="0" dirty="0">
                    <a:solidFill>
                      <a:schemeClr val="bg1"/>
                    </a:solidFill>
                    <a:latin typeface="Calibri"/>
                  </a:rPr>
                  <a:t>Welch–Satterthwaite </a:t>
                </a:r>
                <a:r>
                  <a:rPr sz="1200" b="0" dirty="0" err="1">
                    <a:solidFill>
                      <a:schemeClr val="bg1"/>
                    </a:solidFill>
                    <a:latin typeface="Calibri"/>
                  </a:rPr>
                  <a:t>df</a:t>
                </a:r>
                <a:endParaRPr sz="1200" b="0" dirty="0">
                  <a:solidFill>
                    <a:schemeClr val="bg1"/>
                  </a:solidFill>
                  <a:latin typeface="Calibri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B0DDDA5-FA3F-CE18-9F4A-1B2851D12EBE}"/>
                </a:ext>
              </a:extLst>
            </p:cNvPr>
            <p:cNvGrpSpPr/>
            <p:nvPr/>
          </p:nvGrpSpPr>
          <p:grpSpPr>
            <a:xfrm>
              <a:off x="5771258" y="2224351"/>
              <a:ext cx="2423160" cy="1325880"/>
              <a:chOff x="5806440" y="1783080"/>
              <a:chExt cx="2423160" cy="1325880"/>
            </a:xfrm>
          </p:grpSpPr>
          <p:sp>
            <p:nvSpPr>
              <p:cNvPr id="16" name="Rounded Rectangle 15"/>
              <p:cNvSpPr/>
              <p:nvPr/>
            </p:nvSpPr>
            <p:spPr>
              <a:xfrm>
                <a:off x="5806440" y="1783080"/>
                <a:ext cx="2423160" cy="1325880"/>
              </a:xfrm>
              <a:prstGeom prst="roundRect">
                <a:avLst/>
              </a:prstGeom>
              <a:solidFill>
                <a:srgbClr val="081A2C"/>
              </a:solidFill>
              <a:ln>
                <a:solidFill>
                  <a:srgbClr val="1F37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5971031" y="1920240"/>
                <a:ext cx="209397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000" b="1" dirty="0">
                    <a:solidFill>
                      <a:schemeClr val="bg1"/>
                    </a:solidFill>
                    <a:latin typeface="Calibri"/>
                  </a:rPr>
                  <a:t>P-VALUE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5982475" y="2271746"/>
                <a:ext cx="209397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2000" b="1" dirty="0">
                    <a:solidFill>
                      <a:schemeClr val="bg1"/>
                    </a:solidFill>
                    <a:latin typeface="Calibri"/>
                  </a:rPr>
                  <a:t>0.1844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5971031" y="2624328"/>
                <a:ext cx="209397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200" b="0" dirty="0">
                    <a:solidFill>
                      <a:schemeClr val="bg1"/>
                    </a:solidFill>
                    <a:latin typeface="Calibri"/>
                  </a:rPr>
                  <a:t>above α = 0.05</a:t>
                </a: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090DFE24-1C3C-D01F-7369-BC3FEB3B60EA}"/>
                </a:ext>
              </a:extLst>
            </p:cNvPr>
            <p:cNvGrpSpPr/>
            <p:nvPr/>
          </p:nvGrpSpPr>
          <p:grpSpPr>
            <a:xfrm>
              <a:off x="8492539" y="2205079"/>
              <a:ext cx="2743200" cy="1325880"/>
              <a:chOff x="8458200" y="1783080"/>
              <a:chExt cx="2743200" cy="1325880"/>
            </a:xfrm>
          </p:grpSpPr>
          <p:sp>
            <p:nvSpPr>
              <p:cNvPr id="20" name="Rounded Rectangle 19"/>
              <p:cNvSpPr/>
              <p:nvPr/>
            </p:nvSpPr>
            <p:spPr>
              <a:xfrm>
                <a:off x="8458200" y="1783080"/>
                <a:ext cx="2743200" cy="1325880"/>
              </a:xfrm>
              <a:prstGeom prst="roundRect">
                <a:avLst/>
              </a:prstGeom>
              <a:solidFill>
                <a:srgbClr val="081A2C"/>
              </a:solidFill>
              <a:ln>
                <a:solidFill>
                  <a:srgbClr val="1F374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8622792" y="1920240"/>
                <a:ext cx="2414016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000" b="1" dirty="0">
                    <a:solidFill>
                      <a:schemeClr val="bg1"/>
                    </a:solidFill>
                    <a:latin typeface="Calibri"/>
                  </a:rPr>
                  <a:t>DECISION</a:t>
                </a: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8622792" y="2176272"/>
                <a:ext cx="241401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2000" b="1" dirty="0">
                    <a:solidFill>
                      <a:schemeClr val="bg1"/>
                    </a:solidFill>
                    <a:latin typeface="Calibri"/>
                  </a:rPr>
                  <a:t>Fail to reject H₀</a:t>
                </a: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8622792" y="2624328"/>
                <a:ext cx="241401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200" b="0" dirty="0">
                    <a:solidFill>
                      <a:schemeClr val="bg1"/>
                    </a:solidFill>
                    <a:latin typeface="Calibri"/>
                  </a:rPr>
                  <a:t>not statistically significant</a:t>
                </a:r>
              </a:p>
            </p:txBody>
          </p:sp>
        </p:grpSp>
      </p:grpSp>
      <p:sp>
        <p:nvSpPr>
          <p:cNvPr id="30" name="TextBox 29"/>
          <p:cNvSpPr txBox="1"/>
          <p:nvPr/>
        </p:nvSpPr>
        <p:spPr>
          <a:xfrm>
            <a:off x="582038" y="4743102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latin typeface="Calibri"/>
              </a:rPr>
              <a:t>Because p = 0.1844 &gt; 0.05, the sample does not provide sufficient evidence to conclude that mean goalkeeper Save% differs between the two progression groups.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531526"/>
            <a:ext cx="6924331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rPr dirty="0"/>
              <a:t>Decision: p = 0.1844 &gt; α = 0.05 → FAIL TO REJECT H₀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2874" y="6120158"/>
            <a:ext cx="793691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DD6E2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Conclusion: insufficient evidence to conclude that the two population mean Save% values differ.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3438" y="1427844"/>
            <a:ext cx="10835640" cy="643253"/>
          </a:xfrm>
          <a:prstGeom prst="rect">
            <a:avLst/>
          </a:prstGeom>
          <a:noFill/>
        </p:spPr>
        <p:txBody>
          <a:bodyPr wrap="square" lIns="137160" tIns="73152" rIns="137160">
            <a:spAutoFit/>
          </a:bodyPr>
          <a:lstStyle/>
          <a:p>
            <a:pPr>
              <a:defRPr sz="1700" b="1">
                <a:solidFill>
                  <a:srgbClr val="EBF0F8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H₀: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μKnockout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μEliminated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— No statistically significant difference in mean goalkeeper Save%.</a:t>
            </a:r>
          </a:p>
          <a:p>
            <a:pPr>
              <a:defRPr sz="1700" b="1">
                <a:solidFill>
                  <a:srgbClr val="EBF0F8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H₁: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μKnockout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≠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μEliminated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— A statistically significant difference exists in mean goalkeeper Save%.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9184"/>
            <a:ext cx="502920" cy="36576"/>
          </a:xfrm>
          <a:prstGeom prst="rect">
            <a:avLst/>
          </a:prstGeom>
          <a:solidFill>
            <a:srgbClr val="1A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latin typeface="Calibri"/>
              </a:rPr>
              <a:t>09 •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804672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latin typeface="Calibri"/>
              </a:rPr>
              <a:t>Conclusion and limitation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101399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Calibri"/>
              </a:rPr>
              <a:t>A higher sample mean for knockout goalkeepers, interpreted cautiously because the difference was not statistically significant.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347472"/>
            <a:ext cx="246888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latin typeface="Calibri"/>
              </a:rPr>
              <a:t>HIT140 • FIFA World Cup 2026 • Task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1651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Calibri" panose="020B0604020202020204" pitchFamily="34" charset="0"/>
              <a:buChar char="•"/>
            </a:pPr>
            <a:r>
              <a:rPr sz="1400" b="1" dirty="0">
                <a:latin typeface="Calibri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557784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>
                <a:latin typeface="Calibri"/>
              </a:rPr>
              <a:t>Goalkeepers from knockout-stage teams had a higher average Save% in the selected sample, but the evidence was insufficient to conclude that the population means differ.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5394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latin typeface="Calibri"/>
              </a:rPr>
              <a:t>63.19% vs 53.64%  •  difference = 9.55 percentage points</a:t>
            </a:r>
            <a:br>
              <a:rPr sz="1200" dirty="0"/>
            </a:br>
            <a:r>
              <a:rPr sz="1200" b="0" dirty="0">
                <a:latin typeface="Calibri"/>
              </a:rPr>
              <a:t>Welch t-test: t(27.53) = 1.3614, p = 0.1844</a:t>
            </a:r>
            <a:br>
              <a:rPr sz="1200" dirty="0"/>
            </a:br>
            <a:r>
              <a:rPr sz="1200" b="0" dirty="0">
                <a:latin typeface="Calibri"/>
              </a:rPr>
              <a:t>Cohen's d = 0.497 — moderate sample-level effect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783080"/>
            <a:ext cx="18288" cy="4206240"/>
          </a:xfrm>
          <a:prstGeom prst="rect">
            <a:avLst/>
          </a:prstGeom>
          <a:solidFill>
            <a:srgbClr val="1F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29400" y="1783080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latin typeface="Calibri"/>
              </a:rPr>
              <a:t>LIMITATION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103120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latin typeface="Calibri"/>
              </a:rPr>
              <a:t>Save% is influenced by shots faced, shot quality and team </a:t>
            </a:r>
            <a:r>
              <a:rPr sz="1400" b="0" dirty="0" err="1">
                <a:latin typeface="Calibri"/>
              </a:rPr>
              <a:t>defence</a:t>
            </a:r>
            <a:r>
              <a:rPr sz="1400" b="0" dirty="0">
                <a:latin typeface="Calibri"/>
              </a:rPr>
              <a:t>. The sample is small (15 per group), multiple goalkeepers may come from the same team, and the knockout sample contains an extreme 0% observation.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3756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latin typeface="Calibri"/>
              </a:rPr>
              <a:t>Therefore, this analysis supports a comparison/association between Save% and progression, not a causal claim.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389120"/>
            <a:ext cx="2142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Calibri"/>
              </a:rPr>
              <a:t>STRONGER FOLLOW-UP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70916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latin typeface="Calibri"/>
              </a:rPr>
              <a:t>A stronger follow-up could </a:t>
            </a:r>
            <a:r>
              <a:rPr sz="1200" b="0" dirty="0" err="1">
                <a:latin typeface="Calibri"/>
              </a:rPr>
              <a:t>analyse</a:t>
            </a:r>
            <a:r>
              <a:rPr sz="1200" b="0" dirty="0">
                <a:latin typeface="Calibri"/>
              </a:rPr>
              <a:t> one primary goalkeeper per team and control for shots faced or shot quality, using a larger sample where possible.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13232" y="56692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48082"/>
                </a:solidFill>
                <a:latin typeface="Calibri"/>
              </a:defRPr>
            </a:pPr>
            <a:r>
              <a:t>HIT140 • GROUP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43000"/>
            <a:ext cx="8046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162B48"/>
                </a:solidFill>
                <a:latin typeface="Calibri"/>
              </a:defRPr>
            </a:pPr>
            <a:r>
              <a:t>Player Discipline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75792"/>
            <a:ext cx="9601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232A31"/>
                </a:solidFill>
                <a:latin typeface="Calibri"/>
              </a:defRPr>
            </a:pPr>
            <a:r>
              <a:t>Do defenders and midfielders differ significantly</a:t>
            </a:r>
            <a:br/>
            <a:r>
              <a:t>in their average number of yellow cards?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01568"/>
            <a:ext cx="10652760" cy="18288"/>
          </a:xfrm>
          <a:prstGeom prst="rect">
            <a:avLst/>
          </a:prstGeom>
          <a:solidFill>
            <a:srgbClr val="CDD6DC"/>
          </a:solidFill>
          <a:ln>
            <a:solidFill>
              <a:srgbClr val="CD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7684"/>
                </a:solidFill>
                <a:latin typeface="Calibri"/>
              </a:defRPr>
            </a:pPr>
            <a:r>
              <a:t>FOCAL 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41648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62B48"/>
                </a:solidFill>
                <a:latin typeface="Calibri"/>
              </a:defRPr>
            </a:pPr>
            <a:r>
              <a:t>CrdY — number of yellow cards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749039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7684"/>
                </a:solidFill>
                <a:latin typeface="Calibri"/>
              </a:defRPr>
            </a:pPr>
            <a:r>
              <a:t>GROUPS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4041648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62B48"/>
                </a:solidFill>
                <a:latin typeface="Calibri"/>
              </a:defRPr>
            </a:pPr>
            <a:r>
              <a:t>Defenders (DF)  •  Midfielders (MF)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73952"/>
            <a:ext cx="108813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97684"/>
                </a:solidFill>
                <a:latin typeface="Calibri"/>
              </a:defRPr>
            </a:pPr>
            <a:r>
              <a:rPr dirty="0"/>
              <a:t>HIT140 • FIFA World Cup 2026   |  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48082"/>
                </a:solidFill>
                <a:latin typeface="Calibri"/>
              </a:defRPr>
            </a:pPr>
            <a:r>
              <a:t>01 •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62B48"/>
                </a:solidFill>
                <a:latin typeface="Calibri"/>
              </a:defRPr>
            </a:pPr>
            <a:r>
              <a:t>From raw data to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8872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97684"/>
                </a:solidFill>
                <a:latin typeface="Calibri"/>
              </a:defRPr>
            </a:pPr>
            <a:r>
              <a:t>A reproducible workflow using the player standard-statistics dataset.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907792"/>
            <a:ext cx="10149840" cy="45720"/>
          </a:xfrm>
          <a:prstGeom prst="rect">
            <a:avLst/>
          </a:prstGeom>
          <a:solidFill>
            <a:srgbClr val="C8D3DA"/>
          </a:solidFill>
          <a:ln>
            <a:solidFill>
              <a:srgbClr val="C8D3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2542032"/>
            <a:ext cx="713232" cy="713232"/>
          </a:xfrm>
          <a:prstGeom prst="roundRect">
            <a:avLst/>
          </a:prstGeom>
          <a:solidFill>
            <a:srgbClr val="162B48"/>
          </a:solidFill>
          <a:ln>
            <a:solidFill>
              <a:srgbClr val="16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724912"/>
            <a:ext cx="7132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456432"/>
            <a:ext cx="1051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248082"/>
                </a:solidFill>
                <a:latin typeface="Calibri"/>
              </a:defRPr>
            </a:pPr>
            <a:r>
              <a:t>RAW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3767328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32A31"/>
                </a:solidFill>
                <a:latin typeface="Calibri"/>
              </a:defRPr>
            </a:pPr>
            <a:r>
              <a:t>1,039 players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2542032"/>
            <a:ext cx="713232" cy="713232"/>
          </a:xfrm>
          <a:prstGeom prst="roundRect">
            <a:avLst/>
          </a:prstGeom>
          <a:solidFill>
            <a:srgbClr val="162B48"/>
          </a:solidFill>
          <a:ln>
            <a:solidFill>
              <a:srgbClr val="16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40" y="2724912"/>
            <a:ext cx="7132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3456432"/>
            <a:ext cx="1051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248082"/>
                </a:solidFill>
                <a:latin typeface="Calibri"/>
              </a:defRPr>
            </a:pPr>
            <a:r>
              <a:t>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9192" y="3767328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32A31"/>
                </a:solidFill>
                <a:latin typeface="Calibri"/>
              </a:defRPr>
            </a:pPr>
            <a:r>
              <a:t>DF + MF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2542032"/>
            <a:ext cx="713232" cy="713232"/>
          </a:xfrm>
          <a:prstGeom prst="roundRect">
            <a:avLst/>
          </a:prstGeom>
          <a:solidFill>
            <a:srgbClr val="162B48"/>
          </a:solidFill>
          <a:ln>
            <a:solidFill>
              <a:srgbClr val="16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2080" y="2724912"/>
            <a:ext cx="7132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3456432"/>
            <a:ext cx="1051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248082"/>
                </a:solidFill>
                <a:latin typeface="Calibri"/>
              </a:defRPr>
            </a:pPr>
            <a:r>
              <a:t>SAMPLE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3767328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32A31"/>
                </a:solidFill>
                <a:latin typeface="Calibri"/>
              </a:defRPr>
            </a:pPr>
            <a:r>
              <a:t>150 + 150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542032"/>
            <a:ext cx="713232" cy="713232"/>
          </a:xfrm>
          <a:prstGeom prst="roundRect">
            <a:avLst/>
          </a:prstGeom>
          <a:solidFill>
            <a:srgbClr val="162B48"/>
          </a:solidFill>
          <a:ln>
            <a:solidFill>
              <a:srgbClr val="16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0920" y="2724912"/>
            <a:ext cx="7132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6328" y="3456432"/>
            <a:ext cx="1051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248082"/>
                </a:solidFill>
                <a:latin typeface="Calibri"/>
              </a:defRPr>
            </a:pPr>
            <a:r>
              <a:t>DESCRIBE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6872" y="3767328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32A31"/>
                </a:solidFill>
                <a:latin typeface="Calibri"/>
              </a:defRPr>
            </a:pPr>
            <a:r>
              <a:t>Mean, SD, median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2542032"/>
            <a:ext cx="713232" cy="713232"/>
          </a:xfrm>
          <a:prstGeom prst="roundRect">
            <a:avLst/>
          </a:prstGeom>
          <a:solidFill>
            <a:srgbClr val="162B48"/>
          </a:solidFill>
          <a:ln>
            <a:solidFill>
              <a:srgbClr val="16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09760" y="2724912"/>
            <a:ext cx="7132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8" y="3456432"/>
            <a:ext cx="1051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248082"/>
                </a:solidFill>
                <a:latin typeface="Calibri"/>
              </a:defRPr>
            </a:pPr>
            <a:r>
              <a:t>INFER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712" y="3767328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32A31"/>
                </a:solidFill>
                <a:latin typeface="Calibri"/>
              </a:defRPr>
            </a:pPr>
            <a:r>
              <a:t>95% CI + t-test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800600"/>
            <a:ext cx="10652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7552" y="5010912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7684"/>
                </a:solidFill>
                <a:latin typeface="Calibri"/>
              </a:defRPr>
            </a:pPr>
            <a:r>
              <a:t>REQUIRED SKILLS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4937760"/>
            <a:ext cx="8641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62B48"/>
                </a:solidFill>
                <a:latin typeface="Calibri"/>
              </a:defRPr>
            </a:pPr>
            <a:r>
              <a:t>Question formulation   •   Wrangling   •   Preparation &amp; sampling   •   Descriptive statistics   •   Confidence interval   •   t-test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73952"/>
            <a:ext cx="108813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97684"/>
                </a:solidFill>
                <a:latin typeface="Calibri"/>
              </a:defRPr>
            </a:pPr>
            <a:r>
              <a:rPr dirty="0"/>
              <a:t>HIT140 • FIFA World Cup 2026   |  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48082"/>
                </a:solidFill>
                <a:latin typeface="Calibri"/>
              </a:defRPr>
            </a:pPr>
            <a:r>
              <a:t>02 •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62B48"/>
                </a:solidFill>
                <a:latin typeface="Calibri"/>
              </a:defRPr>
            </a:pPr>
            <a:r>
              <a:t>Preparation and quality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8872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97684"/>
                </a:solidFill>
                <a:latin typeface="Calibri"/>
              </a:defRPr>
            </a:pPr>
            <a:r>
              <a:t>Only unambiguous positional classifications were retained.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73736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9293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7684"/>
                </a:solidFill>
                <a:latin typeface="Calibri"/>
              </a:defRPr>
            </a:pPr>
            <a:r>
              <a:t>ORIGINAL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21991"/>
            <a:ext cx="192938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62B48"/>
                </a:solidFill>
                <a:latin typeface="Calibri"/>
              </a:defRPr>
            </a:pPr>
            <a:r>
              <a:t>1,039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1929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97684"/>
                </a:solidFill>
                <a:latin typeface="Calibri"/>
              </a:defRPr>
            </a:pPr>
            <a:r>
              <a:t>player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73736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47288" y="1901952"/>
            <a:ext cx="19293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7684"/>
                </a:solidFill>
                <a:latin typeface="Calibri"/>
              </a:defRPr>
            </a:pPr>
            <a:r>
              <a:t>ELIGIBLE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288" y="2221991"/>
            <a:ext cx="192938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62B48"/>
                </a:solidFill>
                <a:latin typeface="Calibri"/>
              </a:defRPr>
            </a:pPr>
            <a:r>
              <a:t>650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2697480"/>
            <a:ext cx="1929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97684"/>
                </a:solidFill>
                <a:latin typeface="Calibri"/>
              </a:defRPr>
            </a:pPr>
            <a:r>
              <a:t>344 MF + 306 DF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79008" y="173736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80176" y="1901952"/>
            <a:ext cx="19293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7684"/>
                </a:solidFill>
                <a:latin typeface="Calibri"/>
              </a:defRPr>
            </a:pPr>
            <a:r>
              <a:t>SAMPLE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0176" y="2221991"/>
            <a:ext cx="192938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62B48"/>
                </a:solidFill>
                <a:latin typeface="Calibri"/>
              </a:defRPr>
            </a:pPr>
            <a:r>
              <a:t>300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0176" y="2697480"/>
            <a:ext cx="1929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97684"/>
                </a:solidFill>
                <a:latin typeface="Calibri"/>
              </a:defRPr>
            </a:pPr>
            <a:r>
              <a:t>150 per group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11896" y="173736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13064" y="1901952"/>
            <a:ext cx="192938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7684"/>
                </a:solidFill>
                <a:latin typeface="Calibri"/>
              </a:defRPr>
            </a:pPr>
            <a:r>
              <a:t>MISSING CRDY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13064" y="2221991"/>
            <a:ext cx="192938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62B48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3064" y="2697480"/>
            <a:ext cx="1929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97684"/>
                </a:solidFill>
                <a:latin typeface="Calibri"/>
              </a:defRPr>
            </a:pPr>
            <a:r>
              <a:t>complete outcome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6118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48082"/>
                </a:solidFill>
                <a:latin typeface="Calibri"/>
              </a:defRPr>
            </a:pPr>
            <a:r>
              <a:t>QUALITY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005072"/>
            <a:ext cx="274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4808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986784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32A31"/>
                </a:solidFill>
                <a:latin typeface="Calibri"/>
              </a:defRPr>
            </a:pPr>
            <a:r>
              <a:t>Combined codes (e.g., DFMF / MFDF) excluded to avoid subjective classification.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4398264"/>
            <a:ext cx="274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4808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4379976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32A31"/>
                </a:solidFill>
                <a:latin typeface="Calibri"/>
              </a:defRPr>
            </a:pPr>
            <a:r>
              <a:t>CrdY stored as integer values; observed range in sample: 0–3.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4791455"/>
            <a:ext cx="274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4808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4773168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32A31"/>
                </a:solidFill>
                <a:latin typeface="Calibri"/>
              </a:defRPr>
            </a:pPr>
            <a:r>
              <a:t>No negative yellow-card values.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5184647"/>
            <a:ext cx="274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4808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5166359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32A31"/>
                </a:solidFill>
                <a:latin typeface="Calibri"/>
              </a:defRPr>
            </a:pPr>
            <a:r>
              <a:t>No duplicate player records.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" y="5577839"/>
            <a:ext cx="274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48082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5559551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32A31"/>
                </a:solidFill>
                <a:latin typeface="Calibri"/>
              </a:defRPr>
            </a:pPr>
            <a:r>
              <a:t>Sampling was reproducible with random_state = 42.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473952"/>
            <a:ext cx="108813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97684"/>
                </a:solidFill>
                <a:latin typeface="Calibri"/>
              </a:defRPr>
            </a:pPr>
            <a:r>
              <a:rPr dirty="0"/>
              <a:t>HIT140 • FIFA World Cup 2026   |  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48082"/>
                </a:solidFill>
                <a:latin typeface="Calibri"/>
              </a:defRPr>
            </a:pPr>
            <a:r>
              <a:t>03 •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62B48"/>
                </a:solidFill>
                <a:latin typeface="Calibri"/>
              </a:defRPr>
            </a:pPr>
            <a:r>
              <a:t>What does the sample show?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8872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97684"/>
                </a:solidFill>
                <a:latin typeface="Calibri"/>
              </a:defRPr>
            </a:pPr>
            <a:r>
              <a:t>The group means are almost identical, and both distributions are concentrated at zero.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49808" y="1645920"/>
          <a:ext cx="54864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629400" y="1691640"/>
            <a:ext cx="470916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03720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48082"/>
                </a:solidFill>
                <a:latin typeface="Calibri"/>
              </a:defRPr>
            </a:pPr>
            <a:r>
              <a:t>DESCRIPTIVE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42316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684"/>
                </a:solidFill>
                <a:latin typeface="Calibri"/>
              </a:defRPr>
            </a:pPr>
            <a:r>
              <a:t>DEFENDER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697480"/>
            <a:ext cx="1828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62B48"/>
                </a:solidFill>
                <a:latin typeface="Calibri"/>
              </a:defRPr>
            </a:pPr>
            <a:r>
              <a:t>0.3467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3182112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A31"/>
                </a:solidFill>
                <a:latin typeface="Calibri"/>
              </a:defRPr>
            </a:pPr>
            <a:r>
              <a:t>95% CI  0.2532–0.4401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370332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97684"/>
                </a:solidFill>
                <a:latin typeface="Calibri"/>
              </a:defRPr>
            </a:pPr>
            <a:r>
              <a:t>MIDFIELDER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977639"/>
            <a:ext cx="1828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162B48"/>
                </a:solidFill>
                <a:latin typeface="Calibri"/>
              </a:defRPr>
            </a:pPr>
            <a:r>
              <a:t>0.3400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4462272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A31"/>
                </a:solidFill>
                <a:latin typeface="Calibri"/>
              </a:defRPr>
            </a:pPr>
            <a:r>
              <a:t>95% CI  0.2469–0.4331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3720" y="4983480"/>
            <a:ext cx="4069080" cy="18288"/>
          </a:xfrm>
          <a:prstGeom prst="rect">
            <a:avLst/>
          </a:prstGeom>
          <a:solidFill>
            <a:srgbClr val="DCE2E6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03720" y="5184648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97684"/>
                </a:solidFill>
                <a:latin typeface="Calibri"/>
              </a:defRPr>
            </a:pPr>
            <a:r>
              <a:t>Mean difference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513892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62B48"/>
                </a:solidFill>
                <a:latin typeface="Calibri"/>
              </a:defRPr>
            </a:pPr>
            <a:r>
              <a:t>0.0067 yellow cards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73952"/>
            <a:ext cx="108813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97684"/>
                </a:solidFill>
                <a:latin typeface="Calibri"/>
              </a:defRPr>
            </a:pPr>
            <a:r>
              <a:rPr dirty="0"/>
              <a:t>HIT140 • FIFA World Cup 2026   | 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48082"/>
                </a:solidFill>
                <a:latin typeface="Calibri"/>
              </a:defRPr>
            </a:pPr>
            <a:r>
              <a:t>04 •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62B48"/>
                </a:solidFill>
                <a:latin typeface="Calibri"/>
              </a:defRPr>
            </a:pPr>
            <a:r>
              <a:t>Is the difference statistically significant?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8872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97684"/>
                </a:solidFill>
                <a:latin typeface="Calibri"/>
              </a:defRPr>
            </a:pPr>
            <a:r>
              <a:t>Welch independent two-sample t-test; two-sided alternative; α = 0.05.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37360"/>
            <a:ext cx="27432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" y="1901952"/>
            <a:ext cx="234086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7684"/>
                </a:solidFill>
                <a:latin typeface="Calibri"/>
              </a:defRPr>
            </a:pPr>
            <a:r>
              <a:t>TEST STATISTIC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221991"/>
            <a:ext cx="234086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62B48"/>
                </a:solidFill>
                <a:latin typeface="Calibri"/>
              </a:defRPr>
            </a:pPr>
            <a:r>
              <a:t>0.09985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697480"/>
            <a:ext cx="23408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97684"/>
                </a:solidFill>
                <a:latin typeface="Calibri"/>
              </a:defRPr>
            </a:pPr>
            <a:r>
              <a:t>t-value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7448" y="1737360"/>
            <a:ext cx="27432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28616" y="1901952"/>
            <a:ext cx="234086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7684"/>
                </a:solidFill>
                <a:latin typeface="Calibri"/>
              </a:defRPr>
            </a:pPr>
            <a:r>
              <a:t>P-VALUE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8616" y="2221991"/>
            <a:ext cx="234086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62B48"/>
                </a:solidFill>
                <a:latin typeface="Calibri"/>
              </a:defRPr>
            </a:pPr>
            <a:r>
              <a:t>0.92053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28616" y="2697480"/>
            <a:ext cx="23408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97684"/>
                </a:solidFill>
                <a:latin typeface="Calibri"/>
              </a:defRPr>
            </a:pPr>
            <a:r>
              <a:t>far above α = 0.05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86216" y="1737360"/>
            <a:ext cx="27432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87384" y="1901952"/>
            <a:ext cx="234086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7684"/>
                </a:solidFill>
                <a:latin typeface="Calibri"/>
              </a:defRPr>
            </a:pPr>
            <a:r>
              <a:t>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87384" y="2221991"/>
            <a:ext cx="234086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62B48"/>
                </a:solidFill>
                <a:latin typeface="Calibri"/>
              </a:defRPr>
            </a:pPr>
            <a:r>
              <a:t>Fail to reject H₀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87384" y="2697480"/>
            <a:ext cx="23408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97684"/>
                </a:solidFill>
                <a:latin typeface="Calibri"/>
              </a:defRPr>
            </a:pPr>
            <a:r>
              <a:t>no significant difference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749039"/>
            <a:ext cx="10460736" cy="1508760"/>
          </a:xfrm>
          <a:prstGeom prst="roundRect">
            <a:avLst/>
          </a:prstGeom>
          <a:solidFill>
            <a:srgbClr val="F2F6F8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4050791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248082"/>
                </a:solidFill>
                <a:latin typeface="Calibri"/>
              </a:defRPr>
            </a:pPr>
            <a:r>
              <a:t>H₀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4014215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62B48"/>
                </a:solidFill>
                <a:latin typeface="Calibri"/>
              </a:defRPr>
            </a:pPr>
            <a:r>
              <a:t>μDF = μMF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404164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32A31"/>
                </a:solidFill>
                <a:latin typeface="Calibri"/>
              </a:defRPr>
            </a:pPr>
            <a:r>
              <a:t>No difference in population mean yellow-card count.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590288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248082"/>
                </a:solidFill>
                <a:latin typeface="Calibri"/>
              </a:defRPr>
            </a:pPr>
            <a:r>
              <a:t>H₁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7632" y="455371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62B48"/>
                </a:solidFill>
                <a:latin typeface="Calibri"/>
              </a:defRPr>
            </a:pPr>
            <a:r>
              <a:t>μDF ≠ μMF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4581144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32A31"/>
                </a:solidFill>
                <a:latin typeface="Calibri"/>
              </a:defRPr>
            </a:pPr>
            <a:r>
              <a:t>A difference exists between the two population means.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73952"/>
            <a:ext cx="108813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97684"/>
                </a:solidFill>
                <a:latin typeface="Calibri"/>
              </a:defRPr>
            </a:pPr>
            <a:r>
              <a:rPr dirty="0"/>
              <a:t>HIT140 • FIFA World Cup 2026   |  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48082"/>
                </a:solidFill>
                <a:latin typeface="Calibri"/>
              </a:defRPr>
            </a:pPr>
            <a:r>
              <a:t>05 •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62B48"/>
                </a:solidFill>
                <a:latin typeface="Calibri"/>
              </a:defRPr>
            </a:pPr>
            <a:r>
              <a:t>Conclusion and limitation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8872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97684"/>
                </a:solidFill>
                <a:latin typeface="Calibri"/>
              </a:defRPr>
            </a:pPr>
            <a:r>
              <a:t>A statistically clear result, with an important distributional caveat.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691640"/>
            <a:ext cx="6537960" cy="3429000"/>
          </a:xfrm>
          <a:prstGeom prst="roundRect">
            <a:avLst/>
          </a:prstGeom>
          <a:solidFill>
            <a:srgbClr val="162B48"/>
          </a:solidFill>
          <a:ln>
            <a:solidFill>
              <a:srgbClr val="16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9ADBD7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14600"/>
            <a:ext cx="56692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There is insufficient statistical evidence to conclude that defenders and midfielders differ significantly in average yellow-card counts.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251960"/>
            <a:ext cx="3474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9ADBD7"/>
                </a:solidFill>
                <a:latin typeface="Calibri"/>
              </a:defRPr>
            </a:pPr>
            <a:r>
              <a:t>p = 0.92053  &gt;  0.05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691640"/>
            <a:ext cx="379476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45552" y="201168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48082"/>
                </a:solidFill>
                <a:latin typeface="Calibri"/>
              </a:defRPr>
            </a:pPr>
            <a:r>
              <a:t>LIMITATION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5552" y="2514600"/>
            <a:ext cx="31546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62B48"/>
                </a:solidFill>
                <a:latin typeface="Calibri"/>
              </a:defRPr>
            </a:pPr>
            <a:r>
              <a:t>Yellow cards are discrete count data with a strong concentration at zero. Therefore, normality is not perfectly satisfied.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5552" y="3931920"/>
            <a:ext cx="3063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A31"/>
                </a:solidFill>
                <a:latin typeface="Calibri"/>
              </a:defRPr>
            </a:pPr>
            <a:r>
              <a:t>The required Welch t-test was retained, and this distributional limitation is acknowledged when interpreting the result.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108813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97684"/>
                </a:solidFill>
                <a:latin typeface="Calibri"/>
              </a:defRPr>
            </a:pPr>
            <a:r>
              <a:rPr dirty="0"/>
              <a:t>HIT140 • FIFA World Cup 2026  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02920"/>
            <a:ext cx="11887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latin typeface="Calibri"/>
              </a:rPr>
              <a:t>Task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612648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dirty="0">
                <a:latin typeface="Calibri"/>
              </a:rPr>
              <a:t>Team Possession &amp;</a:t>
            </a:r>
            <a:br>
              <a:rPr dirty="0"/>
            </a:br>
            <a:r>
              <a:rPr dirty="0"/>
              <a:t>Tournament Progression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48840"/>
            <a:ext cx="5029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latin typeface="Calibri"/>
              </a:rPr>
              <a:t>FIFA World Cup 2026 • Statistical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332" y="4200748"/>
            <a:ext cx="22206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latin typeface="Calibri"/>
              </a:rPr>
              <a:t>Research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572000"/>
            <a:ext cx="658368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latin typeface="Calibri"/>
              </a:rPr>
              <a:t>Do teams that progressed to the knockout stage have a significantly different average possession percentage from teams eliminated in the group stage?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715000"/>
            <a:ext cx="60350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latin typeface="Calibri"/>
              </a:rPr>
              <a:t>Poss • Knockout vs Group Eliminated • Welch two-sample t-test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9184"/>
            <a:ext cx="502920" cy="36576"/>
          </a:xfrm>
          <a:prstGeom prst="rect">
            <a:avLst/>
          </a:prstGeom>
          <a:solidFill>
            <a:srgbClr val="1A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23774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01 •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804672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What are we testing?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8961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Research design, variables and statistical objective.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347472"/>
            <a:ext cx="246888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HIT140 • FIFA World Cup 2026 • Task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1828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RESEARCH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Do knockout-stage teams have a significantly different average possession percentage from teams eliminated in the group stage?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91640"/>
            <a:ext cx="1371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VARIABLES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65960"/>
            <a:ext cx="4754880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F5F8F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• Outcome: average possession percentage (Poss)</a:t>
            </a:r>
          </a:p>
          <a:p>
            <a:pPr>
              <a:spcAft>
                <a:spcPts val="800"/>
              </a:spcAft>
              <a:defRPr sz="1000">
                <a:solidFill>
                  <a:srgbClr val="F5F8F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• Grouping variable: tournament progression</a:t>
            </a:r>
          </a:p>
          <a:p>
            <a:pPr>
              <a:spcAft>
                <a:spcPts val="800"/>
              </a:spcAft>
              <a:defRPr sz="1000">
                <a:solidFill>
                  <a:srgbClr val="F5F8F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• Groups: Knockout vs Group Eliminated</a:t>
            </a:r>
          </a:p>
          <a:p>
            <a:pPr>
              <a:spcAft>
                <a:spcPts val="800"/>
              </a:spcAft>
              <a:defRPr sz="1000">
                <a:solidFill>
                  <a:srgbClr val="F5F8F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• Significance level: α = 0.05</a:t>
            </a:r>
          </a:p>
          <a:p>
            <a:pPr>
              <a:spcAft>
                <a:spcPts val="800"/>
              </a:spcAft>
              <a:defRPr sz="1000">
                <a:solidFill>
                  <a:srgbClr val="F5F8FA"/>
                </a:solidFill>
                <a:latin typeface="Calibri"/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• Two-sided alternative hypothesis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160520"/>
            <a:ext cx="1828800" cy="1143000"/>
          </a:xfrm>
          <a:prstGeom prst="roundRect">
            <a:avLst/>
          </a:prstGeom>
          <a:solidFill>
            <a:srgbClr val="081A2C"/>
          </a:solidFill>
          <a:ln>
            <a:solidFill>
              <a:srgbClr val="1F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7512" y="4297680"/>
            <a:ext cx="14996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1AD67E"/>
                </a:solidFill>
                <a:latin typeface="Calibri"/>
              </a:rPr>
              <a:t>POPULATION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4553712"/>
            <a:ext cx="1499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8FA"/>
                </a:solidFill>
                <a:latin typeface="Calibri"/>
              </a:rPr>
              <a:t>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5001768"/>
            <a:ext cx="14996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7B7C6"/>
                </a:solidFill>
                <a:latin typeface="Calibri"/>
              </a:rPr>
              <a:t>World Cup teams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4600" y="4160520"/>
            <a:ext cx="1828800" cy="1143000"/>
          </a:xfrm>
          <a:prstGeom prst="roundRect">
            <a:avLst/>
          </a:prstGeom>
          <a:solidFill>
            <a:srgbClr val="081A2C"/>
          </a:solidFill>
          <a:ln>
            <a:solidFill>
              <a:srgbClr val="1F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79192" y="4297680"/>
            <a:ext cx="14996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1AD67E"/>
                </a:solidFill>
                <a:latin typeface="Calibri"/>
              </a:rPr>
              <a:t>SAMPLE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4553712"/>
            <a:ext cx="1499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8FA"/>
                </a:solidFill>
                <a:latin typeface="Calibri"/>
              </a:rPr>
              <a:t>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9192" y="5001768"/>
            <a:ext cx="14996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7B7C6"/>
                </a:solidFill>
                <a:latin typeface="Calibri"/>
              </a:rPr>
              <a:t>75% of population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4160520"/>
            <a:ext cx="1828800" cy="1143000"/>
          </a:xfrm>
          <a:prstGeom prst="roundRect">
            <a:avLst/>
          </a:prstGeom>
          <a:solidFill>
            <a:srgbClr val="081A2C"/>
          </a:solidFill>
          <a:ln>
            <a:solidFill>
              <a:srgbClr val="1F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690872" y="4297680"/>
            <a:ext cx="14996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8C750"/>
                </a:solidFill>
                <a:latin typeface="Calibri"/>
              </a:rPr>
              <a:t>GROUPS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0872" y="4553712"/>
            <a:ext cx="14996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8FA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0872" y="5001768"/>
            <a:ext cx="14996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7B7C6"/>
                </a:solidFill>
                <a:latin typeface="Calibri"/>
              </a:rPr>
              <a:t>24 knockout • 12 eliminated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160520"/>
            <a:ext cx="1371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Statistical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4622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Welch independent two-sample t-test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892040"/>
            <a:ext cx="4754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Selected because group sizes and variability differ, and Welch's test does not require equal population variances.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ounded Rectangle 11">
            <a:extLst>
              <a:ext uri="{FF2B5EF4-FFF2-40B4-BE49-F238E27FC236}">
                <a16:creationId xmlns:a16="http://schemas.microsoft.com/office/drawing/2014/main" id="{A4A50667-D8E9-6CD3-F760-0779BEB3143B}"/>
              </a:ext>
            </a:extLst>
          </p:cNvPr>
          <p:cNvSpPr/>
          <p:nvPr/>
        </p:nvSpPr>
        <p:spPr>
          <a:xfrm>
            <a:off x="9421368" y="2267712"/>
            <a:ext cx="1828800" cy="1143000"/>
          </a:xfrm>
          <a:prstGeom prst="roundRect">
            <a:avLst/>
          </a:prstGeom>
          <a:solidFill>
            <a:srgbClr val="081A2C"/>
          </a:solidFill>
          <a:ln>
            <a:solidFill>
              <a:srgbClr val="1F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bg1"/>
              </a:solidFill>
            </a:endParaRPr>
          </a:p>
        </p:txBody>
      </p:sp>
      <p:sp>
        <p:nvSpPr>
          <p:cNvPr id="33" name="Rounded Rectangle 11">
            <a:extLst>
              <a:ext uri="{FF2B5EF4-FFF2-40B4-BE49-F238E27FC236}">
                <a16:creationId xmlns:a16="http://schemas.microsoft.com/office/drawing/2014/main" id="{01DE33BE-605B-BF07-705E-478740468598}"/>
              </a:ext>
            </a:extLst>
          </p:cNvPr>
          <p:cNvSpPr/>
          <p:nvPr/>
        </p:nvSpPr>
        <p:spPr>
          <a:xfrm>
            <a:off x="7187184" y="2267712"/>
            <a:ext cx="1828800" cy="1143000"/>
          </a:xfrm>
          <a:prstGeom prst="roundRect">
            <a:avLst/>
          </a:prstGeom>
          <a:solidFill>
            <a:srgbClr val="081A2C"/>
          </a:solidFill>
          <a:ln>
            <a:solidFill>
              <a:srgbClr val="1F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Rounded Rectangle 11">
            <a:extLst>
              <a:ext uri="{FF2B5EF4-FFF2-40B4-BE49-F238E27FC236}">
                <a16:creationId xmlns:a16="http://schemas.microsoft.com/office/drawing/2014/main" id="{E407FA5F-6BA4-9288-6B4C-7FBF43085D6A}"/>
              </a:ext>
            </a:extLst>
          </p:cNvPr>
          <p:cNvSpPr/>
          <p:nvPr/>
        </p:nvSpPr>
        <p:spPr>
          <a:xfrm>
            <a:off x="4690873" y="2294138"/>
            <a:ext cx="1828800" cy="1143000"/>
          </a:xfrm>
          <a:prstGeom prst="roundRect">
            <a:avLst/>
          </a:prstGeom>
          <a:solidFill>
            <a:srgbClr val="081A2C"/>
          </a:solidFill>
          <a:ln>
            <a:solidFill>
              <a:srgbClr val="1F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0" name="Rounded Rectangle 11">
            <a:extLst>
              <a:ext uri="{FF2B5EF4-FFF2-40B4-BE49-F238E27FC236}">
                <a16:creationId xmlns:a16="http://schemas.microsoft.com/office/drawing/2014/main" id="{4C13AE75-F82F-A56C-398A-A465244B2148}"/>
              </a:ext>
            </a:extLst>
          </p:cNvPr>
          <p:cNvSpPr/>
          <p:nvPr/>
        </p:nvSpPr>
        <p:spPr>
          <a:xfrm>
            <a:off x="2584752" y="2247641"/>
            <a:ext cx="1828800" cy="1143000"/>
          </a:xfrm>
          <a:prstGeom prst="roundRect">
            <a:avLst/>
          </a:prstGeom>
          <a:solidFill>
            <a:srgbClr val="081A2C"/>
          </a:solidFill>
          <a:ln>
            <a:solidFill>
              <a:srgbClr val="1F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11">
            <a:extLst>
              <a:ext uri="{FF2B5EF4-FFF2-40B4-BE49-F238E27FC236}">
                <a16:creationId xmlns:a16="http://schemas.microsoft.com/office/drawing/2014/main" id="{8E2BC673-51B8-6A80-1C72-51B2022A9220}"/>
              </a:ext>
            </a:extLst>
          </p:cNvPr>
          <p:cNvSpPr/>
          <p:nvPr/>
        </p:nvSpPr>
        <p:spPr>
          <a:xfrm>
            <a:off x="416149" y="2207269"/>
            <a:ext cx="1828800" cy="1143000"/>
          </a:xfrm>
          <a:prstGeom prst="roundRect">
            <a:avLst/>
          </a:prstGeom>
          <a:solidFill>
            <a:srgbClr val="081A2C"/>
          </a:solidFill>
          <a:ln>
            <a:solidFill>
              <a:srgbClr val="1F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411480" y="329184"/>
            <a:ext cx="502920" cy="36576"/>
          </a:xfrm>
          <a:prstGeom prst="rect">
            <a:avLst/>
          </a:prstGeom>
          <a:solidFill>
            <a:srgbClr val="1A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23774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02 •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804672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From raw data to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8961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A reproducible workflow using Squad Possession and Match Results.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347472"/>
            <a:ext cx="246888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HIT140 • FIFA World Cup 2026 • Task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411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67712"/>
            <a:ext cx="1645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chemeClr val="bg1"/>
                </a:solidFill>
                <a:latin typeface="Calibri"/>
              </a:rPr>
              <a:t>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33472"/>
            <a:ext cx="187451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>
                <a:solidFill>
                  <a:schemeClr val="bg1"/>
                </a:solidFill>
                <a:latin typeface="Calibri"/>
              </a:rPr>
              <a:t>Squad Possession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+ Match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395728"/>
            <a:ext cx="320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632" y="1874519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0632" y="2267712"/>
            <a:ext cx="1645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chemeClr val="bg1"/>
                </a:solidFill>
                <a:latin typeface="Calibri"/>
              </a:rPr>
              <a:t>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0632" y="2633472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>
                <a:solidFill>
                  <a:schemeClr val="bg1"/>
                </a:solidFill>
                <a:latin typeface="Calibri"/>
              </a:rPr>
              <a:t>Remove invalid rows</a:t>
            </a:r>
            <a:br>
              <a:rPr dirty="0">
                <a:solidFill>
                  <a:schemeClr val="bg1"/>
                </a:solidFill>
              </a:rPr>
            </a:br>
            <a:r>
              <a:rPr dirty="0" err="1">
                <a:solidFill>
                  <a:schemeClr val="bg1"/>
                </a:solidFill>
              </a:rPr>
              <a:t>standardise</a:t>
            </a:r>
            <a:r>
              <a:rPr dirty="0">
                <a:solidFill>
                  <a:schemeClr val="bg1"/>
                </a:solidFill>
              </a:rPr>
              <a:t> team names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395728"/>
            <a:ext cx="320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8344" y="1874519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8344" y="2267712"/>
            <a:ext cx="1645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chemeClr val="bg1"/>
                </a:solidFill>
                <a:latin typeface="Calibri"/>
              </a:rPr>
              <a:t>CLASSIFY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38344" y="2633472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chemeClr val="bg1"/>
                </a:solidFill>
                <a:latin typeface="Calibri"/>
              </a:rPr>
              <a:t>Round of 32 → Knockout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remaining → Eliminated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67144" y="2395728"/>
            <a:ext cx="320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6056" y="1874519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06056" y="2267712"/>
            <a:ext cx="1645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chemeClr val="bg1"/>
                </a:solidFill>
                <a:latin typeface="Calibri"/>
              </a:rPr>
              <a:t>SAMPLE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6056" y="2633472"/>
            <a:ext cx="187451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chemeClr val="bg1"/>
                </a:solidFill>
                <a:latin typeface="Calibri"/>
              </a:rPr>
              <a:t>Proportional stratified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24 + 12 teams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6" y="2395728"/>
            <a:ext cx="320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3768" y="1874519"/>
            <a:ext cx="411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73768" y="2267712"/>
            <a:ext cx="1645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chemeClr val="bg1"/>
                </a:solidFill>
                <a:latin typeface="Calibri"/>
              </a:rPr>
              <a:t>ANALYSE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73768" y="2633472"/>
            <a:ext cx="18745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chemeClr val="bg1"/>
                </a:solidFill>
                <a:latin typeface="Calibri"/>
              </a:rPr>
              <a:t>Describe • 95% CI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Welch t-test • effect size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251960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DATA QUALITY / WRANGLING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572000"/>
            <a:ext cx="10789920" cy="119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>
                <a:solidFill>
                  <a:srgbClr val="F5F8FA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Match data reduced to 104 valid matches after removing non-match rows.</a:t>
            </a:r>
          </a:p>
          <a:p>
            <a:pPr>
              <a:spcAft>
                <a:spcPts val="800"/>
              </a:spcAft>
              <a:defRPr sz="900">
                <a:solidFill>
                  <a:srgbClr val="F5F8FA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72 group-stage matches contained all 48 unique teams.</a:t>
            </a:r>
          </a:p>
          <a:p>
            <a:pPr>
              <a:spcAft>
                <a:spcPts val="800"/>
              </a:spcAft>
              <a:defRPr sz="900">
                <a:solidFill>
                  <a:srgbClr val="F5F8FA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Round-of-32 participants identified 32 knockout teams; 16 teams were classified as group-stage eliminated.</a:t>
            </a:r>
          </a:p>
          <a:p>
            <a:pPr>
              <a:spcAft>
                <a:spcPts val="800"/>
              </a:spcAft>
              <a:defRPr sz="900">
                <a:solidFill>
                  <a:srgbClr val="F5F8FA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Team names were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standardised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across both datasets before matching.</a:t>
            </a:r>
          </a:p>
          <a:p>
            <a:pPr>
              <a:spcAft>
                <a:spcPts val="800"/>
              </a:spcAft>
              <a:defRPr sz="900">
                <a:solidFill>
                  <a:srgbClr val="F5F8FA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Final team classification matched all 48 possession records with no unmatched teams.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9184"/>
            <a:ext cx="502920" cy="36576"/>
          </a:xfrm>
          <a:prstGeom prst="rect">
            <a:avLst/>
          </a:prstGeom>
          <a:solidFill>
            <a:srgbClr val="1A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23774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latin typeface="Calibri"/>
              </a:rPr>
              <a:t>03 • 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804672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latin typeface="Calibri"/>
              </a:rPr>
              <a:t>Population, sample and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8961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latin typeface="Calibri"/>
              </a:rPr>
              <a:t>Proportional stratified random sampling preserved the tournament group 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347472"/>
            <a:ext cx="246888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latin typeface="Calibri"/>
              </a:rPr>
              <a:t>HIT140 • FIFA World Cup 2026 • Task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2011680" cy="1234440"/>
          </a:xfrm>
          <a:prstGeom prst="roundRect">
            <a:avLst/>
          </a:prstGeom>
          <a:solidFill>
            <a:srgbClr val="081A2C"/>
          </a:solidFill>
          <a:ln>
            <a:solidFill>
              <a:srgbClr val="1F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7512" y="1874519"/>
            <a:ext cx="1682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1AD67E"/>
                </a:solidFill>
                <a:latin typeface="Calibri"/>
              </a:rPr>
              <a:t>POPULATION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130552"/>
            <a:ext cx="1682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8FA"/>
                </a:solidFill>
                <a:latin typeface="Calibri"/>
              </a:rPr>
              <a:t>48 teams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578608"/>
            <a:ext cx="16824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7B7C6"/>
                </a:solidFill>
                <a:latin typeface="Calibri"/>
              </a:rPr>
              <a:t>32 knockout • 16 eliminated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1737360"/>
            <a:ext cx="2011680" cy="1234440"/>
          </a:xfrm>
          <a:prstGeom prst="roundRect">
            <a:avLst/>
          </a:prstGeom>
          <a:solidFill>
            <a:srgbClr val="081A2C"/>
          </a:solidFill>
          <a:ln>
            <a:solidFill>
              <a:srgbClr val="1F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62072" y="1874519"/>
            <a:ext cx="1682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1AD67E"/>
                </a:solidFill>
                <a:latin typeface="Calibri"/>
              </a:rPr>
              <a:t>SAMPLE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2130552"/>
            <a:ext cx="1682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8FA"/>
                </a:solidFill>
                <a:latin typeface="Calibri"/>
              </a:rPr>
              <a:t>36 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2072" y="2578608"/>
            <a:ext cx="16824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7B7C6"/>
                </a:solidFill>
                <a:latin typeface="Calibri"/>
              </a:rPr>
              <a:t>24 knockout • 12 eliminated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1737360"/>
            <a:ext cx="2011680" cy="1234440"/>
          </a:xfrm>
          <a:prstGeom prst="roundRect">
            <a:avLst/>
          </a:prstGeom>
          <a:solidFill>
            <a:srgbClr val="081A2C"/>
          </a:solidFill>
          <a:ln>
            <a:solidFill>
              <a:srgbClr val="1F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56631" y="1874519"/>
            <a:ext cx="1682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8C750"/>
                </a:solidFill>
                <a:latin typeface="Calibri"/>
              </a:rPr>
              <a:t>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1" y="2130552"/>
            <a:ext cx="1682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8FA"/>
                </a:solidFill>
                <a:latin typeface="Calibri"/>
              </a:rPr>
              <a:t>75%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1" y="2578608"/>
            <a:ext cx="16824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7B7C6"/>
                </a:solidFill>
                <a:latin typeface="Calibri"/>
              </a:rPr>
              <a:t>of each progression stratum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1737360"/>
            <a:ext cx="2011680" cy="1234440"/>
          </a:xfrm>
          <a:prstGeom prst="roundRect">
            <a:avLst/>
          </a:prstGeom>
          <a:solidFill>
            <a:srgbClr val="081A2C"/>
          </a:solidFill>
          <a:ln>
            <a:solidFill>
              <a:srgbClr val="1F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251192" y="1874519"/>
            <a:ext cx="1682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1AD67E"/>
                </a:solidFill>
                <a:latin typeface="Calibri"/>
              </a:rPr>
              <a:t>MISSING POSS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1192" y="2130552"/>
            <a:ext cx="1682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8FA"/>
                </a:solidFill>
                <a:latin typeface="Calibri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1192" y="2578608"/>
            <a:ext cx="16824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7B7C6"/>
                </a:solidFill>
                <a:latin typeface="Calibri"/>
              </a:rPr>
              <a:t>complete analytical sample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81160" y="1737360"/>
            <a:ext cx="2011680" cy="1234440"/>
          </a:xfrm>
          <a:prstGeom prst="roundRect">
            <a:avLst/>
          </a:prstGeom>
          <a:solidFill>
            <a:srgbClr val="081A2C"/>
          </a:solidFill>
          <a:ln>
            <a:solidFill>
              <a:srgbClr val="1F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445752" y="1874519"/>
            <a:ext cx="16824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1AD67E"/>
                </a:solidFill>
                <a:latin typeface="Calibri"/>
              </a:rPr>
              <a:t>SEED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5752" y="2130552"/>
            <a:ext cx="1682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F8FA"/>
                </a:solidFill>
                <a:latin typeface="Calibri"/>
              </a:rPr>
              <a:t>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5752" y="2578608"/>
            <a:ext cx="16824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7B7C6"/>
                </a:solidFill>
                <a:latin typeface="Calibri"/>
              </a:rPr>
              <a:t>reproducible sampling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520440"/>
            <a:ext cx="23774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latin typeface="Calibri"/>
              </a:rPr>
              <a:t>WHY STRATIFIED SAMPLING?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840480"/>
            <a:ext cx="5212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latin typeface="Calibri"/>
              </a:rPr>
              <a:t>The research question directly compares two progression groups. Sampling within each group ensures both are represented while preserving the original 2:1 population ratio.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520440"/>
            <a:ext cx="1828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latin typeface="Calibri"/>
              </a:rPr>
              <a:t>ANALYTICAL SAMPLE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840480"/>
            <a:ext cx="4754880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F5F8FA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Knockout: 24 of 32 teams</a:t>
            </a:r>
          </a:p>
          <a:p>
            <a:pPr>
              <a:spcAft>
                <a:spcPts val="800"/>
              </a:spcAft>
              <a:defRPr sz="1000">
                <a:solidFill>
                  <a:srgbClr val="F5F8FA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Group Eliminated: 12 of 16 teams</a:t>
            </a:r>
          </a:p>
          <a:p>
            <a:pPr>
              <a:spcAft>
                <a:spcPts val="800"/>
              </a:spcAft>
              <a:defRPr sz="1000">
                <a:solidFill>
                  <a:srgbClr val="F5F8FA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No duplicate team records</a:t>
            </a:r>
          </a:p>
          <a:p>
            <a:pPr>
              <a:spcAft>
                <a:spcPts val="800"/>
              </a:spcAft>
              <a:defRPr sz="1000">
                <a:solidFill>
                  <a:srgbClr val="F5F8FA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No missing possession values</a:t>
            </a:r>
          </a:p>
          <a:p>
            <a:pPr>
              <a:spcAft>
                <a:spcPts val="800"/>
              </a:spcAft>
              <a:defRPr sz="1000">
                <a:solidFill>
                  <a:srgbClr val="F5F8FA"/>
                </a:solidFill>
                <a:latin typeface="Calibr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Sample used consistently for descriptive and inferential analysis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9184"/>
            <a:ext cx="502920" cy="36576"/>
          </a:xfrm>
          <a:prstGeom prst="rect">
            <a:avLst/>
          </a:prstGeom>
          <a:solidFill>
            <a:srgbClr val="1A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23774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04 •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804672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What does the sample show?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8961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Knockout teams recorded higher central possession and slightly lower variability.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347472"/>
            <a:ext cx="246888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HIT140 • FIFA World Cup 2026 • Task 4</a:t>
            </a:r>
          </a:p>
        </p:txBody>
      </p:sp>
      <p:pic>
        <p:nvPicPr>
          <p:cNvPr id="8" name="Picture 7" descr="task4_mea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5486400" cy="3383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6520" y="1691640"/>
            <a:ext cx="21031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DESCRIPTIVE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29968"/>
            <a:ext cx="16459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029968"/>
            <a:ext cx="5029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029968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Mean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55480" y="2029968"/>
            <a:ext cx="8229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Median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2029968"/>
            <a:ext cx="640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SD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95728"/>
            <a:ext cx="1645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Group Eliminated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395728"/>
            <a:ext cx="502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405560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43.02%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2395728"/>
            <a:ext cx="8229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42.70%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2395728"/>
            <a:ext cx="6400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10.10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871216"/>
            <a:ext cx="1645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Knockout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871216"/>
            <a:ext cx="502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2871216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51.55%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871216"/>
            <a:ext cx="8229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53.65%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2871216"/>
            <a:ext cx="6400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7.95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611880"/>
            <a:ext cx="19202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OBSERVED DIFFERENCE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913632"/>
            <a:ext cx="4114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+8.53 percentage points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434840"/>
            <a:ext cx="4754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Knockout teams also had a higher median (53.65% vs 42.70%). Eliminated teams showed greater variability (SD 10.10 vs 7.95).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303520"/>
            <a:ext cx="4754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Descriptive evidence suggests a difference, but statistical inference is required before drawing a conclusion.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9184"/>
            <a:ext cx="502920" cy="36576"/>
          </a:xfrm>
          <a:prstGeom prst="rect">
            <a:avLst/>
          </a:prstGeom>
          <a:solidFill>
            <a:srgbClr val="1A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23774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05 •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804672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Distribution and assumption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8961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Visual inspection and Shapiro–Wilk tests support proceeding with the t-test.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347472"/>
            <a:ext cx="246888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HIT140 • FIFA World Cup 2026 • Task 4</a:t>
            </a:r>
          </a:p>
        </p:txBody>
      </p:sp>
      <p:pic>
        <p:nvPicPr>
          <p:cNvPr id="8" name="Picture 7" descr="task4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5349240" cy="3200400"/>
          </a:xfrm>
          <a:prstGeom prst="rect">
            <a:avLst/>
          </a:prstGeom>
        </p:spPr>
      </p:pic>
      <p:pic>
        <p:nvPicPr>
          <p:cNvPr id="9" name="Picture 8" descr="task4_histo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691640"/>
            <a:ext cx="534924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166360"/>
            <a:ext cx="16459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NORMALITY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468112"/>
            <a:ext cx="65836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Knockout: W = 0.9398, p = 0.1615   •   Group Eliminated: W = 0.9156, p = 0.2516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852160"/>
            <a:ext cx="106070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Both p-values exceed 0.05, so there is insufficient evidence to reject normality. Potential outliers were retained because they represent valid team observations.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9184"/>
            <a:ext cx="502920" cy="36576"/>
          </a:xfrm>
          <a:prstGeom prst="rect">
            <a:avLst/>
          </a:prstGeom>
          <a:solidFill>
            <a:srgbClr val="1A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27053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06 • CONFIDENCE INTERVALS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804672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How precise are the group means?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8961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95% confidence intervals quantify uncertainty around average possession.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347472"/>
            <a:ext cx="246888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HIT140 • FIFA World Cup 2026 • Task 4</a:t>
            </a:r>
          </a:p>
        </p:txBody>
      </p:sp>
      <p:pic>
        <p:nvPicPr>
          <p:cNvPr id="8" name="Picture 7" descr="task4_ci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5577840" cy="37490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46520" y="1828800"/>
            <a:ext cx="2240280" cy="1234440"/>
          </a:xfrm>
          <a:prstGeom prst="roundRect">
            <a:avLst/>
          </a:prstGeom>
          <a:solidFill>
            <a:srgbClr val="081A2C"/>
          </a:solidFill>
          <a:ln>
            <a:solidFill>
              <a:srgbClr val="1F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11112" y="1965960"/>
            <a:ext cx="1911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chemeClr val="bg1"/>
                </a:solidFill>
                <a:latin typeface="Calibri"/>
              </a:rPr>
              <a:t>GROUP ELIMINATED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2221992"/>
            <a:ext cx="1911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chemeClr val="bg1"/>
                </a:solidFill>
                <a:latin typeface="Calibri"/>
              </a:rPr>
              <a:t>43.02%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2670048"/>
            <a:ext cx="1911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chemeClr val="bg1"/>
                </a:solidFill>
                <a:latin typeface="Calibri"/>
              </a:rPr>
              <a:t>95% CI: 36.61%–49.44%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828800"/>
            <a:ext cx="2240280" cy="1234440"/>
          </a:xfrm>
          <a:prstGeom prst="roundRect">
            <a:avLst/>
          </a:prstGeom>
          <a:solidFill>
            <a:srgbClr val="081A2C"/>
          </a:solidFill>
          <a:ln>
            <a:solidFill>
              <a:srgbClr val="1F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25712" y="1965960"/>
            <a:ext cx="1911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chemeClr val="bg1"/>
                </a:solidFill>
                <a:latin typeface="Calibri"/>
              </a:rPr>
              <a:t>KNOCKOUT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5712" y="2221992"/>
            <a:ext cx="19110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chemeClr val="bg1"/>
                </a:solidFill>
                <a:latin typeface="Calibri"/>
              </a:rPr>
              <a:t>51.55%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5712" y="2670048"/>
            <a:ext cx="19110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dirty="0">
                <a:solidFill>
                  <a:schemeClr val="bg1"/>
                </a:solidFill>
                <a:latin typeface="Calibri"/>
              </a:rPr>
              <a:t>95% CI: 48.20%–54.90%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566160"/>
            <a:ext cx="16459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886200"/>
            <a:ext cx="47548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The eliminated-group interval is wider because the sample is smaller and more variable. The individual confidence intervals overlap slightly, so significance should be determined by the formal two-sample test rather than CI overlap alone.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5349240"/>
            <a:ext cx="47548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Next: test H₀: μKnockout = μEliminated against H₁: μKnockout ≠ μEliminated.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9184"/>
            <a:ext cx="502920" cy="36576"/>
          </a:xfrm>
          <a:prstGeom prst="rect">
            <a:avLst/>
          </a:prstGeom>
          <a:solidFill>
            <a:srgbClr val="1A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Calibri"/>
              </a:rPr>
              <a:t>07 •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8046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Calibri"/>
              </a:rPr>
              <a:t>Is the difference statistically significant?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Calibri"/>
              </a:rPr>
              <a:t>Welch independent two-sample t-test; two-sided alternative; α = 0.05.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347472"/>
            <a:ext cx="2468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latin typeface="Calibri"/>
              </a:rPr>
              <a:t>HIT140 • FIFA World Cup 2026 • Task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2423160" cy="1325880"/>
          </a:xfrm>
          <a:prstGeom prst="roundRect">
            <a:avLst/>
          </a:prstGeom>
          <a:solidFill>
            <a:srgbClr val="081A2C"/>
          </a:solidFill>
          <a:ln>
            <a:solidFill>
              <a:srgbClr val="1F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7512" y="1920240"/>
            <a:ext cx="2093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chemeClr val="bg1"/>
                </a:solidFill>
                <a:latin typeface="Calibri"/>
              </a:rPr>
              <a:t>TEST STATISTIC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176272"/>
            <a:ext cx="2093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chemeClr val="bg1"/>
                </a:solidFill>
                <a:latin typeface="Calibri"/>
              </a:rPr>
              <a:t>2.5553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24328"/>
            <a:ext cx="2093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chemeClr val="bg1"/>
                </a:solidFill>
                <a:latin typeface="Calibri"/>
              </a:rPr>
              <a:t>t-value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1783080"/>
            <a:ext cx="2423160" cy="1325880"/>
          </a:xfrm>
          <a:prstGeom prst="roundRect">
            <a:avLst/>
          </a:prstGeom>
          <a:solidFill>
            <a:srgbClr val="081A2C"/>
          </a:solidFill>
          <a:ln>
            <a:solidFill>
              <a:srgbClr val="1F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19272" y="1920240"/>
            <a:ext cx="2093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chemeClr val="bg1"/>
                </a:solidFill>
                <a:latin typeface="Calibri"/>
              </a:rPr>
              <a:t>DEGREES OF FREEDOM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9272" y="2176272"/>
            <a:ext cx="2093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chemeClr val="bg1"/>
                </a:solidFill>
                <a:latin typeface="Calibri"/>
              </a:rPr>
              <a:t>18.03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2624328"/>
            <a:ext cx="2093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chemeClr val="bg1"/>
                </a:solidFill>
                <a:latin typeface="Calibri"/>
              </a:rPr>
              <a:t>Welch–Satterthwaite df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1783080"/>
            <a:ext cx="2423160" cy="1325880"/>
          </a:xfrm>
          <a:prstGeom prst="roundRect">
            <a:avLst/>
          </a:prstGeom>
          <a:solidFill>
            <a:srgbClr val="081A2C"/>
          </a:solidFill>
          <a:ln>
            <a:solidFill>
              <a:srgbClr val="1F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71031" y="1920240"/>
            <a:ext cx="2093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chemeClr val="bg1"/>
                </a:solidFill>
                <a:latin typeface="Calibri"/>
              </a:rPr>
              <a:t>P-VALUE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71031" y="2176272"/>
            <a:ext cx="2093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chemeClr val="bg1"/>
                </a:solidFill>
                <a:latin typeface="Calibri"/>
              </a:rPr>
              <a:t>0.0199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1031" y="2624328"/>
            <a:ext cx="2093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chemeClr val="bg1"/>
                </a:solidFill>
                <a:latin typeface="Calibri"/>
              </a:rPr>
              <a:t>below α = 0.05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58200" y="1783080"/>
            <a:ext cx="2743200" cy="1325880"/>
          </a:xfrm>
          <a:prstGeom prst="roundRect">
            <a:avLst/>
          </a:prstGeom>
          <a:solidFill>
            <a:srgbClr val="081A2C"/>
          </a:solidFill>
          <a:ln>
            <a:solidFill>
              <a:srgbClr val="1F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22792" y="1920240"/>
            <a:ext cx="24140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chemeClr val="bg1"/>
                </a:solidFill>
                <a:latin typeface="Calibri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2792" y="2176272"/>
            <a:ext cx="24140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chemeClr val="bg1"/>
                </a:solidFill>
                <a:latin typeface="Calibri"/>
              </a:rPr>
              <a:t>Reject H₀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22792" y="2624328"/>
            <a:ext cx="24140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chemeClr val="bg1"/>
                </a:solidFill>
                <a:latin typeface="Calibri"/>
              </a:rPr>
              <a:t>statistically significant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657600"/>
            <a:ext cx="502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Calibri"/>
              </a:rPr>
              <a:t>H₀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675887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Calibri"/>
              </a:rPr>
              <a:t>μKnockout = μEliminated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0690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Calibri"/>
              </a:rPr>
              <a:t>No difference in population mean possession.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3657600"/>
            <a:ext cx="502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Calibri"/>
              </a:rPr>
              <a:t>H₁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675887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Calibri"/>
              </a:rPr>
              <a:t>μKnockout ≠ μEliminated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069080"/>
            <a:ext cx="4297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Calibri"/>
              </a:rPr>
              <a:t>A difference exists between the two population means.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074920"/>
            <a:ext cx="10607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Calibri"/>
              </a:rPr>
              <a:t>Because p = 0.0199 &lt; 0.05, the observed difference is unlikely to be explained by sampling variation alone under the null hypothesis.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9184"/>
            <a:ext cx="502920" cy="36576"/>
          </a:xfrm>
          <a:prstGeom prst="rect">
            <a:avLst/>
          </a:prstGeom>
          <a:solidFill>
            <a:srgbClr val="1A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23774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latin typeface="Calibri"/>
              </a:rPr>
              <a:t>08 • EFFECT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804672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latin typeface="Calibri"/>
              </a:rPr>
              <a:t>Is the difference practically meaningful?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8961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latin typeface="Calibri"/>
              </a:rPr>
              <a:t>Statistical significance is paired with a measure of magnitude.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347472"/>
            <a:ext cx="246888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latin typeface="Calibri"/>
              </a:rPr>
              <a:t>HIT140 • FIFA World Cup 2026 • Task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1554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latin typeface="Calibri"/>
              </a:rPr>
              <a:t>COHEN'S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2286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latin typeface="Calibri"/>
              </a:rPr>
              <a:t>0.980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07792"/>
            <a:ext cx="2103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latin typeface="Calibri"/>
              </a:rPr>
              <a:t>Large effect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29000"/>
            <a:ext cx="4937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latin typeface="Calibri"/>
              </a:rPr>
              <a:t>Using conventional interpretation guidelines, d ≈ 0.98 indicates a substantial difference between the two progression groups in the analysed sample.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240280"/>
            <a:ext cx="4389120" cy="73152"/>
          </a:xfrm>
          <a:prstGeom prst="rect">
            <a:avLst/>
          </a:prstGeom>
          <a:solidFill>
            <a:srgbClr val="1F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132320" y="2130552"/>
            <a:ext cx="27432" cy="292608"/>
          </a:xfrm>
          <a:prstGeom prst="rect">
            <a:avLst/>
          </a:prstGeom>
          <a:solidFill>
            <a:srgbClr val="A7B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95159" y="2468880"/>
            <a:ext cx="320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latin typeface="Calibri"/>
              </a:rPr>
              <a:t>0.2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770632"/>
            <a:ext cx="685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latin typeface="Calibri"/>
              </a:rPr>
              <a:t>Small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130552"/>
            <a:ext cx="27432" cy="292608"/>
          </a:xfrm>
          <a:prstGeom prst="rect">
            <a:avLst/>
          </a:prstGeom>
          <a:solidFill>
            <a:srgbClr val="A7B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92440" y="2468880"/>
            <a:ext cx="320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latin typeface="Calibri"/>
              </a:rPr>
              <a:t>0.5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2770632"/>
            <a:ext cx="685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latin typeface="Calibri"/>
              </a:rPr>
              <a:t>Medium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0" y="2130552"/>
            <a:ext cx="27432" cy="292608"/>
          </a:xfrm>
          <a:prstGeom prst="rect">
            <a:avLst/>
          </a:prstGeom>
          <a:solidFill>
            <a:srgbClr val="A7B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89719" y="2468880"/>
            <a:ext cx="320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latin typeface="Calibri"/>
              </a:rPr>
              <a:t>0.8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770632"/>
            <a:ext cx="685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latin typeface="Calibri"/>
              </a:rPr>
              <a:t>Large</a:t>
            </a:r>
          </a:p>
        </p:txBody>
      </p:sp>
      <p:sp>
        <p:nvSpPr>
          <p:cNvPr id="22" name="Oval 21"/>
          <p:cNvSpPr/>
          <p:nvPr/>
        </p:nvSpPr>
        <p:spPr>
          <a:xfrm>
            <a:off x="9912096" y="2121408"/>
            <a:ext cx="146304" cy="146304"/>
          </a:xfrm>
          <a:prstGeom prst="ellipse">
            <a:avLst/>
          </a:prstGeom>
          <a:solidFill>
            <a:srgbClr val="1A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0" y="3246120"/>
            <a:ext cx="4389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latin typeface="Calibri"/>
              </a:rPr>
              <a:t>Observed d = 0.980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31920"/>
            <a:ext cx="4389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latin typeface="Calibri"/>
              </a:rPr>
              <a:t>The result is therefore not only statistically significant; the sample-level difference is also substantial in magnitude.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7784" y="201168"/>
            <a:ext cx="502920" cy="36576"/>
          </a:xfrm>
          <a:prstGeom prst="rect">
            <a:avLst/>
          </a:prstGeom>
          <a:solidFill>
            <a:srgbClr val="1A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7784" y="329184"/>
            <a:ext cx="23774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latin typeface="Calibri"/>
              </a:rPr>
              <a:t>09 •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784" y="585216"/>
            <a:ext cx="804672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latin typeface="Calibri"/>
              </a:rPr>
              <a:t>Conclusion and limitation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7784" y="1060704"/>
            <a:ext cx="8961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latin typeface="Calibri"/>
              </a:rPr>
              <a:t>A significant result, interpreted carefully within the available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87464" y="219456"/>
            <a:ext cx="246888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latin typeface="Calibri"/>
              </a:rPr>
              <a:t>HIT140 • FIFA World Cup 2026 • Task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224" y="1655064"/>
            <a:ext cx="14630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latin typeface="Calibri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224" y="1975104"/>
            <a:ext cx="5577840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latin typeface="Calibri"/>
              </a:rPr>
              <a:t>Teams progressing to the knockout stage had significantly higher average possession than teams eliminated in the group stage in the analysed sample.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224" y="3118104"/>
            <a:ext cx="5394960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latin typeface="Calibri"/>
              </a:rPr>
              <a:t>51.55% vs 43.02%  •  difference = 8.53 percentage points</a:t>
            </a:r>
            <a:br/>
            <a:r>
              <a:t>Welch t-test: t(18.03) = 2.5553, p = 0.0199</a:t>
            </a:r>
            <a:br/>
            <a:r>
              <a:t>Cohen's d = 0.980 — large effect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69944" y="1655064"/>
            <a:ext cx="18288" cy="4206240"/>
          </a:xfrm>
          <a:prstGeom prst="rect">
            <a:avLst/>
          </a:prstGeom>
          <a:solidFill>
            <a:srgbClr val="1F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35704" y="1655064"/>
            <a:ext cx="1371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latin typeface="Calibri"/>
              </a:rPr>
              <a:t>LIMITATION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5704" y="197510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latin typeface="Calibri"/>
              </a:rPr>
              <a:t>The available Poss variable is tournament-level. Teams progressing further may have possession calculated across more matches than teams eliminated in the group stage.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5704" y="320954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latin typeface="Calibri"/>
              </a:rPr>
              <a:t>Therefore, this analysis supports an association between possession and progression, not a causal claim.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5704" y="4261104"/>
            <a:ext cx="1828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latin typeface="Calibri"/>
              </a:rPr>
              <a:t>STRONGER FOLLOW-UP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5704" y="4581144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latin typeface="Calibri"/>
              </a:rPr>
              <a:t>Recalculate possession using only each team's three group-stage matches so every team is measured over the same tournament phase.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DDA9A3-0B6E-0D5E-AE67-36857879EF9A}"/>
              </a:ext>
            </a:extLst>
          </p:cNvPr>
          <p:cNvSpPr txBox="1"/>
          <p:nvPr/>
        </p:nvSpPr>
        <p:spPr>
          <a:xfrm>
            <a:off x="4090220" y="3013501"/>
            <a:ext cx="34019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Thank You</a:t>
            </a:r>
            <a:endParaRPr lang="en-AU" sz="4800" dirty="0"/>
          </a:p>
        </p:txBody>
      </p:sp>
    </p:spTree>
    <p:extLst>
      <p:ext uri="{BB962C8B-B14F-4D97-AF65-F5344CB8AC3E}">
        <p14:creationId xmlns:p14="http://schemas.microsoft.com/office/powerpoint/2010/main" val="155822452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Calibri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216</TotalTime>
  <Words>4160</Words>
  <Application>Microsoft Office PowerPoint</Application>
  <PresentationFormat>Widescreen</PresentationFormat>
  <Paragraphs>624</Paragraphs>
  <Slides>38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Aptos</vt:lpstr>
      <vt:lpstr>Calibri</vt:lpstr>
      <vt:lpstr>Courier New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Ayush Bhusal</dc:creator>
  <cp:keywords/>
  <dc:description>generated using python-pptx</dc:description>
  <cp:lastModifiedBy>Hemraj Budhathoki</cp:lastModifiedBy>
  <cp:revision>11</cp:revision>
  <dcterms:created xsi:type="dcterms:W3CDTF">2013-01-27T09:14:16Z</dcterms:created>
  <dcterms:modified xsi:type="dcterms:W3CDTF">2026-09-09T15:04:33Z</dcterms:modified>
  <cp:category/>
</cp:coreProperties>
</file>